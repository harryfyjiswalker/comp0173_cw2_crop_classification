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93" r:id="rId4"/>
  </p:sldMasterIdLst>
  <p:notesMasterIdLst>
    <p:notesMasterId r:id="rId6"/>
  </p:notesMasterIdLst>
  <p:sldIdLst>
    <p:sldId id="259" r:id="rId5"/>
  </p:sldIdLst>
  <p:sldSz cx="42800588" cy="302752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13458" userDrawn="1">
          <p15:clr>
            <a:srgbClr val="A4A3A4"/>
          </p15:clr>
        </p15:guide>
        <p15:guide id="3" orient="horz" pos="956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tterson, Helen" initials="PH" lastIdx="1" clrIdx="0">
    <p:extLst>
      <p:ext uri="{19B8F6BF-5375-455C-9EA6-DF929625EA0E}">
        <p15:presenceInfo xmlns:p15="http://schemas.microsoft.com/office/powerpoint/2012/main" userId="S::ucyihcp@ucl.ac.uk::5f259b6b-27f6-4b09-8495-590a8edf876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E6E6"/>
    <a:srgbClr val="FBF3F7"/>
    <a:srgbClr val="E6ECED"/>
    <a:srgbClr val="E5E5DE"/>
    <a:srgbClr val="F4F5EC"/>
    <a:srgbClr val="E6F5F6"/>
    <a:srgbClr val="F6F6F6"/>
    <a:srgbClr val="CCFFFF"/>
    <a:srgbClr val="DCD7DB"/>
    <a:srgbClr val="DCD2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9524" autoAdjust="0"/>
    <p:restoredTop sz="95903" autoAdjust="0"/>
  </p:normalViewPr>
  <p:slideViewPr>
    <p:cSldViewPr snapToGrid="0" showGuides="1">
      <p:cViewPr>
        <p:scale>
          <a:sx n="56" d="100"/>
          <a:sy n="56" d="100"/>
        </p:scale>
        <p:origin x="-728" y="-3200"/>
      </p:cViewPr>
      <p:guideLst>
        <p:guide pos="13458"/>
        <p:guide orient="horz" pos="9564"/>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commentAuthors" Target="commentAuthor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543D0F-15BB-374A-A9E2-90E0AEE57063}" type="datetimeFigureOut">
              <a:rPr lang="en-US" smtClean="0"/>
              <a:t>12/10/25</a:t>
            </a:fld>
            <a:endParaRPr lang="en-US"/>
          </a:p>
        </p:txBody>
      </p:sp>
      <p:sp>
        <p:nvSpPr>
          <p:cNvPr id="4" name="Slide Image Placeholder 3"/>
          <p:cNvSpPr>
            <a:spLocks noGrp="1" noRot="1" noChangeAspect="1"/>
          </p:cNvSpPr>
          <p:nvPr>
            <p:ph type="sldImg" idx="2"/>
          </p:nvPr>
        </p:nvSpPr>
        <p:spPr>
          <a:xfrm>
            <a:off x="1247775" y="1143000"/>
            <a:ext cx="43624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A8BDE4-BF9D-9245-BD2B-7DA11794B362}" type="slidenum">
              <a:rPr lang="en-US" smtClean="0"/>
              <a:t>‹#›</a:t>
            </a:fld>
            <a:endParaRPr lang="en-US"/>
          </a:p>
        </p:txBody>
      </p:sp>
    </p:spTree>
    <p:extLst>
      <p:ext uri="{BB962C8B-B14F-4D97-AF65-F5344CB8AC3E}">
        <p14:creationId xmlns:p14="http://schemas.microsoft.com/office/powerpoint/2010/main" val="4165142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8A8BDE4-BF9D-9245-BD2B-7DA11794B362}" type="slidenum">
              <a:rPr lang="en-US" smtClean="0"/>
              <a:t>1</a:t>
            </a:fld>
            <a:endParaRPr lang="en-US"/>
          </a:p>
        </p:txBody>
      </p:sp>
    </p:spTree>
    <p:extLst>
      <p:ext uri="{BB962C8B-B14F-4D97-AF65-F5344CB8AC3E}">
        <p14:creationId xmlns:p14="http://schemas.microsoft.com/office/powerpoint/2010/main" val="35239860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A0 Landscape Poster - blank">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bg1"/>
                </a:solidFill>
              </a:defRPr>
            </a:lvl1pPr>
          </a:lstStyle>
          <a:p>
            <a:r>
              <a:rPr lang="en-US" dirty="0"/>
              <a:t>Click to add title – Arial bold 72pt</a:t>
            </a:r>
            <a:endParaRPr lang="en-GB" dirty="0"/>
          </a:p>
        </p:txBody>
      </p:sp>
      <p:sp>
        <p:nvSpPr>
          <p:cNvPr id="6"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8" name="Text Placeholder 7"/>
          <p:cNvSpPr>
            <a:spLocks noGrp="1"/>
          </p:cNvSpPr>
          <p:nvPr>
            <p:ph type="body" sz="quarter" idx="11" hasCustomPrompt="1"/>
          </p:nvPr>
        </p:nvSpPr>
        <p:spPr>
          <a:xfrm>
            <a:off x="1058785" y="4074785"/>
            <a:ext cx="35504166" cy="480131"/>
          </a:xfrm>
          <a:prstGeom prst="rect">
            <a:avLst/>
          </a:prstGeom>
        </p:spPr>
        <p:txBody>
          <a:bodyPr wrap="square" lIns="0">
            <a:spAutoFit/>
          </a:bodyPr>
          <a:lstStyle>
            <a:lvl1pPr marL="0" indent="0">
              <a:buNone/>
              <a:defRPr sz="2800" b="1">
                <a:solidFill>
                  <a:schemeClr val="bg1"/>
                </a:solidFill>
                <a:latin typeface="+mj-lt"/>
              </a:defRPr>
            </a:lvl1pPr>
          </a:lstStyle>
          <a:p>
            <a:pPr lvl="0"/>
            <a:r>
              <a:rPr lang="en-US" dirty="0"/>
              <a:t>Click to add </a:t>
            </a:r>
            <a:r>
              <a:rPr lang="en-US" dirty="0" err="1"/>
              <a:t>affilliations</a:t>
            </a:r>
            <a:r>
              <a:rPr lang="en-US" dirty="0"/>
              <a:t> – Arial bold 28pt</a:t>
            </a:r>
            <a:endParaRPr lang="en-GB" dirty="0"/>
          </a:p>
        </p:txBody>
      </p:sp>
      <p:sp>
        <p:nvSpPr>
          <p:cNvPr id="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bg1"/>
                </a:solidFill>
              </a:defRPr>
            </a:lvl1pPr>
            <a:lvl2pPr>
              <a:defRPr sz="4294"/>
            </a:lvl2pPr>
            <a:lvl3pPr>
              <a:defRPr sz="3816"/>
            </a:lvl3pPr>
            <a:lvl4pPr>
              <a:defRPr sz="3180"/>
            </a:lvl4pPr>
            <a:lvl5pPr>
              <a:defRPr sz="3180"/>
            </a:lvl5pPr>
          </a:lstStyle>
          <a:p>
            <a:pPr lvl="0"/>
            <a:r>
              <a:rPr lang="en-GB" dirty="0"/>
              <a:t>Keep this area clear</a:t>
            </a:r>
          </a:p>
        </p:txBody>
      </p:sp>
      <p:sp>
        <p:nvSpPr>
          <p:cNvPr id="20"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bg1"/>
                </a:solidFill>
              </a:defRPr>
            </a:lvl1pPr>
          </a:lstStyle>
          <a:p>
            <a:pPr lvl="0"/>
            <a:r>
              <a:rPr lang="en-US" dirty="0"/>
              <a:t>Add contact details here</a:t>
            </a:r>
            <a:endParaRPr lang="en-GB" dirty="0"/>
          </a:p>
        </p:txBody>
      </p:sp>
      <p:sp>
        <p:nvSpPr>
          <p:cNvPr id="18"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bg1"/>
                </a:solidFill>
              </a:defRPr>
            </a:lvl1pPr>
          </a:lstStyle>
          <a:p>
            <a:pPr lvl="0"/>
            <a:r>
              <a:rPr lang="en-US" dirty="0"/>
              <a:t>Add collaborator logos here</a:t>
            </a:r>
          </a:p>
        </p:txBody>
      </p:sp>
    </p:spTree>
    <p:extLst>
      <p:ext uri="{BB962C8B-B14F-4D97-AF65-F5344CB8AC3E}">
        <p14:creationId xmlns:p14="http://schemas.microsoft.com/office/powerpoint/2010/main" val="329396397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368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0 Landscape Poster -  3 column guides">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bg1"/>
                </a:solidFill>
              </a:defRPr>
            </a:lvl1pPr>
          </a:lstStyle>
          <a:p>
            <a:r>
              <a:rPr lang="en-US" dirty="0"/>
              <a:t>Click to add title – Arial bold 72pt</a:t>
            </a:r>
            <a:endParaRPr lang="en-GB" dirty="0"/>
          </a:p>
        </p:txBody>
      </p:sp>
      <p:sp>
        <p:nvSpPr>
          <p:cNvPr id="11"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13" name="Text Placeholder 7"/>
          <p:cNvSpPr>
            <a:spLocks noGrp="1"/>
          </p:cNvSpPr>
          <p:nvPr>
            <p:ph type="body" sz="quarter" idx="11" hasCustomPrompt="1"/>
          </p:nvPr>
        </p:nvSpPr>
        <p:spPr>
          <a:xfrm>
            <a:off x="1058785" y="4074786"/>
            <a:ext cx="35504166" cy="480131"/>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2800" b="1">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t>
            </a:r>
            <a:r>
              <a:rPr lang="en-US" dirty="0" err="1"/>
              <a:t>affilliations</a:t>
            </a:r>
            <a:r>
              <a:rPr lang="en-US" dirty="0"/>
              <a:t> – Arial bold 28pt</a:t>
            </a:r>
            <a:endParaRPr lang="en-GB" dirty="0"/>
          </a:p>
        </p:txBody>
      </p:sp>
      <p:sp>
        <p:nvSpPr>
          <p:cNvPr id="1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bg1"/>
                </a:solidFill>
              </a:defRPr>
            </a:lvl1pPr>
            <a:lvl2pPr>
              <a:defRPr sz="4294"/>
            </a:lvl2pPr>
            <a:lvl3pPr>
              <a:defRPr sz="3816"/>
            </a:lvl3pPr>
            <a:lvl4pPr>
              <a:defRPr sz="3180"/>
            </a:lvl4pPr>
            <a:lvl5pPr>
              <a:defRPr sz="3180"/>
            </a:lvl5pPr>
          </a:lstStyle>
          <a:p>
            <a:pPr lvl="0"/>
            <a:r>
              <a:rPr lang="en-GB" dirty="0"/>
              <a:t>Keep this area clear</a:t>
            </a:r>
          </a:p>
        </p:txBody>
      </p:sp>
      <p:sp>
        <p:nvSpPr>
          <p:cNvPr id="15"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bg1"/>
                </a:solidFill>
              </a:defRPr>
            </a:lvl1pPr>
          </a:lstStyle>
          <a:p>
            <a:pPr lvl="0"/>
            <a:r>
              <a:rPr lang="en-US" dirty="0"/>
              <a:t>Add contact details here</a:t>
            </a:r>
            <a:endParaRPr lang="en-GB" dirty="0"/>
          </a:p>
        </p:txBody>
      </p:sp>
      <p:sp>
        <p:nvSpPr>
          <p:cNvPr id="17"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bg1"/>
                </a:solidFill>
              </a:defRPr>
            </a:lvl1pPr>
          </a:lstStyle>
          <a:p>
            <a:pPr lvl="0"/>
            <a:r>
              <a:rPr lang="en-US" dirty="0"/>
              <a:t>Add collaborator logos here</a:t>
            </a:r>
          </a:p>
        </p:txBody>
      </p:sp>
    </p:spTree>
    <p:extLst>
      <p:ext uri="{BB962C8B-B14F-4D97-AF65-F5344CB8AC3E}">
        <p14:creationId xmlns:p14="http://schemas.microsoft.com/office/powerpoint/2010/main" val="128162880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8899">
          <p15:clr>
            <a:srgbClr val="FBAE40"/>
          </p15:clr>
        </p15:guide>
        <p15:guide id="2" pos="9353">
          <p15:clr>
            <a:srgbClr val="FBAE40"/>
          </p15:clr>
        </p15:guide>
        <p15:guide id="3" pos="17608">
          <p15:clr>
            <a:srgbClr val="FBAE40"/>
          </p15:clr>
        </p15:guide>
        <p15:guide id="4" pos="1806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0 Landscape Poster - 3 columns v2">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bg1"/>
                </a:solidFill>
              </a:defRPr>
            </a:lvl1pPr>
          </a:lstStyle>
          <a:p>
            <a:r>
              <a:rPr lang="en-US" dirty="0"/>
              <a:t>Click to add title – Arial bold 72pt</a:t>
            </a:r>
            <a:endParaRPr lang="en-GB" dirty="0"/>
          </a:p>
        </p:txBody>
      </p:sp>
      <p:sp>
        <p:nvSpPr>
          <p:cNvPr id="11"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13" name="Text Placeholder 7"/>
          <p:cNvSpPr>
            <a:spLocks noGrp="1"/>
          </p:cNvSpPr>
          <p:nvPr>
            <p:ph type="body" sz="quarter" idx="11" hasCustomPrompt="1"/>
          </p:nvPr>
        </p:nvSpPr>
        <p:spPr>
          <a:xfrm>
            <a:off x="1058785" y="4074786"/>
            <a:ext cx="35504166" cy="480131"/>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2800" b="1">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t>
            </a:r>
            <a:r>
              <a:rPr lang="en-US" dirty="0" err="1"/>
              <a:t>affilliations</a:t>
            </a:r>
            <a:r>
              <a:rPr lang="en-US" dirty="0"/>
              <a:t> – Arial bold 28pt</a:t>
            </a:r>
            <a:endParaRPr lang="en-GB" dirty="0"/>
          </a:p>
        </p:txBody>
      </p:sp>
      <p:sp>
        <p:nvSpPr>
          <p:cNvPr id="1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bg1"/>
                </a:solidFill>
              </a:defRPr>
            </a:lvl1pPr>
            <a:lvl2pPr>
              <a:defRPr sz="4294"/>
            </a:lvl2pPr>
            <a:lvl3pPr>
              <a:defRPr sz="3816"/>
            </a:lvl3pPr>
            <a:lvl4pPr>
              <a:defRPr sz="3180"/>
            </a:lvl4pPr>
            <a:lvl5pPr>
              <a:defRPr sz="3180"/>
            </a:lvl5pPr>
          </a:lstStyle>
          <a:p>
            <a:pPr lvl="0"/>
            <a:r>
              <a:rPr lang="en-GB" dirty="0"/>
              <a:t>Keep this area clear</a:t>
            </a:r>
          </a:p>
        </p:txBody>
      </p:sp>
      <p:sp>
        <p:nvSpPr>
          <p:cNvPr id="20" name="Rectangle 19">
            <a:extLst>
              <a:ext uri="{C183D7F6-B498-43B3-948B-1728B52AA6E4}">
                <adec:decorative xmlns:adec="http://schemas.microsoft.com/office/drawing/2017/decorative" val="1"/>
              </a:ext>
            </a:extLst>
          </p:cNvPr>
          <p:cNvSpPr/>
          <p:nvPr/>
        </p:nvSpPr>
        <p:spPr>
          <a:xfrm>
            <a:off x="1022351" y="5857198"/>
            <a:ext cx="13104812" cy="76968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1" name="Content Placeholder 2">
            <a:extLst>
              <a:ext uri="{C183D7F6-B498-43B3-948B-1728B52AA6E4}">
                <adec:decorative xmlns:adec="http://schemas.microsoft.com/office/drawing/2017/decorative" val="0"/>
              </a:ext>
            </a:extLst>
          </p:cNvPr>
          <p:cNvSpPr>
            <a:spLocks noGrp="1"/>
          </p:cNvSpPr>
          <p:nvPr>
            <p:ph sz="quarter" idx="18" hasCustomPrompt="1"/>
          </p:nvPr>
        </p:nvSpPr>
        <p:spPr>
          <a:xfrm>
            <a:off x="1022351" y="5857198"/>
            <a:ext cx="13104812" cy="770697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4" name="Rectangle 3">
            <a:extLst>
              <a:ext uri="{C183D7F6-B498-43B3-948B-1728B52AA6E4}">
                <adec:decorative xmlns:adec="http://schemas.microsoft.com/office/drawing/2017/decorative" val="1"/>
              </a:ext>
            </a:extLst>
          </p:cNvPr>
          <p:cNvSpPr/>
          <p:nvPr/>
        </p:nvSpPr>
        <p:spPr>
          <a:xfrm>
            <a:off x="1022400" y="14290306"/>
            <a:ext cx="13104000" cy="133053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5" name="Content Placeholder 4"/>
          <p:cNvSpPr>
            <a:spLocks noGrp="1"/>
          </p:cNvSpPr>
          <p:nvPr>
            <p:ph sz="quarter" idx="22" hasCustomPrompt="1"/>
          </p:nvPr>
        </p:nvSpPr>
        <p:spPr>
          <a:xfrm>
            <a:off x="1022400" y="14290306"/>
            <a:ext cx="13104000" cy="13305376"/>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8" name="Rectangle 17">
            <a:extLst>
              <a:ext uri="{C183D7F6-B498-43B3-948B-1728B52AA6E4}">
                <adec:decorative xmlns:adec="http://schemas.microsoft.com/office/drawing/2017/decorative" val="1"/>
              </a:ext>
            </a:extLst>
          </p:cNvPr>
          <p:cNvSpPr/>
          <p:nvPr/>
        </p:nvSpPr>
        <p:spPr>
          <a:xfrm>
            <a:off x="14858565" y="5857198"/>
            <a:ext cx="13094134" cy="1333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2" name="Content Placeholder 2"/>
          <p:cNvSpPr>
            <a:spLocks noGrp="1"/>
          </p:cNvSpPr>
          <p:nvPr>
            <p:ph sz="quarter" idx="16" hasCustomPrompt="1"/>
          </p:nvPr>
        </p:nvSpPr>
        <p:spPr>
          <a:xfrm>
            <a:off x="14857200" y="5857198"/>
            <a:ext cx="13095499" cy="13338000"/>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1604660" indent="0" algn="l" defTabSz="3209320" rtl="0" eaLnBrk="1" latinLnBrk="0" hangingPunct="1">
              <a:lnSpc>
                <a:spcPct val="90000"/>
              </a:lnSpc>
              <a:buFont typeface="Arial" panose="020B0604020202020204" pitchFamily="34" charset="0"/>
              <a:buNone/>
              <a:defRPr lang="en-US" sz="4000" b="1" kern="1200" dirty="0" smtClean="0">
                <a:solidFill>
                  <a:schemeClr val="tx1"/>
                </a:solidFill>
                <a:latin typeface="+mj-lt"/>
                <a:ea typeface="+mn-ea"/>
                <a:cs typeface="+mn-cs"/>
              </a:defRPr>
            </a:lvl2pPr>
            <a:lvl3pPr marL="3209320" indent="0" algn="l" defTabSz="3209320" rtl="0" eaLnBrk="1" latinLnBrk="0" hangingPunct="1">
              <a:lnSpc>
                <a:spcPct val="90000"/>
              </a:lnSpc>
              <a:buFont typeface="Arial" panose="020B0604020202020204" pitchFamily="34" charset="0"/>
              <a:buNone/>
              <a:defRPr lang="en-US" sz="2400" b="0" kern="1200" dirty="0" smtClean="0">
                <a:solidFill>
                  <a:schemeClr val="tx1"/>
                </a:solidFill>
                <a:latin typeface="+mj-lt"/>
                <a:ea typeface="+mn-ea"/>
                <a:cs typeface="+mn-cs"/>
              </a:defRPr>
            </a:lvl3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4" name="Rectangle 23">
            <a:extLst>
              <a:ext uri="{C183D7F6-B498-43B3-948B-1728B52AA6E4}">
                <adec:decorative xmlns:adec="http://schemas.microsoft.com/office/drawing/2017/decorative" val="1"/>
              </a:ext>
            </a:extLst>
          </p:cNvPr>
          <p:cNvSpPr/>
          <p:nvPr/>
        </p:nvSpPr>
        <p:spPr>
          <a:xfrm>
            <a:off x="14858237" y="19889788"/>
            <a:ext cx="13094463" cy="77058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5" name="Content Placeholder 2"/>
          <p:cNvSpPr>
            <a:spLocks noGrp="1"/>
          </p:cNvSpPr>
          <p:nvPr>
            <p:ph sz="quarter" idx="20" hasCustomPrompt="1"/>
          </p:nvPr>
        </p:nvSpPr>
        <p:spPr>
          <a:xfrm>
            <a:off x="14858236" y="19889788"/>
            <a:ext cx="13094463" cy="7705894"/>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9" name="Rectangle 18">
            <a:extLst>
              <a:ext uri="{C183D7F6-B498-43B3-948B-1728B52AA6E4}">
                <adec:decorative xmlns:adec="http://schemas.microsoft.com/office/drawing/2017/decorative" val="1"/>
              </a:ext>
            </a:extLst>
          </p:cNvPr>
          <p:cNvSpPr/>
          <p:nvPr/>
        </p:nvSpPr>
        <p:spPr>
          <a:xfrm>
            <a:off x="28674000" y="5857198"/>
            <a:ext cx="13104000" cy="77069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6" name="Content Placeholder 2"/>
          <p:cNvSpPr>
            <a:spLocks noGrp="1"/>
          </p:cNvSpPr>
          <p:nvPr>
            <p:ph sz="quarter" idx="17" hasCustomPrompt="1"/>
          </p:nvPr>
        </p:nvSpPr>
        <p:spPr>
          <a:xfrm>
            <a:off x="28674000" y="5857198"/>
            <a:ext cx="13104000" cy="7706969"/>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2" name="Rectangle 21">
            <a:extLst>
              <a:ext uri="{C183D7F6-B498-43B3-948B-1728B52AA6E4}">
                <adec:decorative xmlns:adec="http://schemas.microsoft.com/office/drawing/2017/decorative" val="1"/>
              </a:ext>
            </a:extLst>
          </p:cNvPr>
          <p:cNvSpPr/>
          <p:nvPr/>
        </p:nvSpPr>
        <p:spPr>
          <a:xfrm>
            <a:off x="28674000" y="14290306"/>
            <a:ext cx="13104000" cy="76886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3" name="Content Placeholder 2"/>
          <p:cNvSpPr>
            <a:spLocks noGrp="1"/>
          </p:cNvSpPr>
          <p:nvPr>
            <p:ph sz="quarter" idx="19" hasCustomPrompt="1"/>
          </p:nvPr>
        </p:nvSpPr>
        <p:spPr>
          <a:xfrm>
            <a:off x="28674000" y="14290306"/>
            <a:ext cx="13104000" cy="768863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8" name="Rectangle 27">
            <a:extLst>
              <a:ext uri="{C183D7F6-B498-43B3-948B-1728B52AA6E4}">
                <adec:decorative xmlns:adec="http://schemas.microsoft.com/office/drawing/2017/decorative" val="1"/>
              </a:ext>
            </a:extLst>
          </p:cNvPr>
          <p:cNvSpPr/>
          <p:nvPr/>
        </p:nvSpPr>
        <p:spPr>
          <a:xfrm>
            <a:off x="28674000" y="22698000"/>
            <a:ext cx="13104000" cy="489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9" name="Content Placeholder 2"/>
          <p:cNvSpPr>
            <a:spLocks noGrp="1"/>
          </p:cNvSpPr>
          <p:nvPr>
            <p:ph sz="quarter" idx="21" hasCustomPrompt="1"/>
          </p:nvPr>
        </p:nvSpPr>
        <p:spPr>
          <a:xfrm>
            <a:off x="28674000" y="22698075"/>
            <a:ext cx="13104000" cy="4897607"/>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5"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bg1"/>
                </a:solidFill>
              </a:defRPr>
            </a:lvl1pPr>
          </a:lstStyle>
          <a:p>
            <a:pPr lvl="0"/>
            <a:r>
              <a:rPr lang="en-US" dirty="0"/>
              <a:t>Add contact details here</a:t>
            </a:r>
            <a:endParaRPr lang="en-GB" dirty="0"/>
          </a:p>
        </p:txBody>
      </p:sp>
      <p:sp>
        <p:nvSpPr>
          <p:cNvPr id="17"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bg1"/>
                </a:solidFill>
              </a:defRPr>
            </a:lvl1pPr>
          </a:lstStyle>
          <a:p>
            <a:pPr lvl="0"/>
            <a:r>
              <a:rPr lang="en-US" dirty="0"/>
              <a:t>Add collaborator logos here</a:t>
            </a:r>
          </a:p>
        </p:txBody>
      </p:sp>
    </p:spTree>
    <p:extLst>
      <p:ext uri="{BB962C8B-B14F-4D97-AF65-F5344CB8AC3E}">
        <p14:creationId xmlns:p14="http://schemas.microsoft.com/office/powerpoint/2010/main" val="23965108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3684">
          <p15:clr>
            <a:srgbClr val="FBAE40"/>
          </p15:clr>
        </p15:guide>
        <p15:guide id="2" pos="8899">
          <p15:clr>
            <a:srgbClr val="FBAE40"/>
          </p15:clr>
        </p15:guide>
        <p15:guide id="3" pos="9353">
          <p15:clr>
            <a:srgbClr val="FBAE40"/>
          </p15:clr>
        </p15:guide>
        <p15:guide id="4" pos="17608">
          <p15:clr>
            <a:srgbClr val="FBAE40"/>
          </p15:clr>
        </p15:guide>
        <p15:guide id="5" pos="18062">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0 Landscape Poster -  4 column guides">
    <p:spTree>
      <p:nvGrpSpPr>
        <p:cNvPr id="1" name=""/>
        <p:cNvGrpSpPr/>
        <p:nvPr/>
      </p:nvGrpSpPr>
      <p:grpSpPr>
        <a:xfrm>
          <a:off x="0" y="0"/>
          <a:ext cx="0" cy="0"/>
          <a:chOff x="0" y="0"/>
          <a:chExt cx="0" cy="0"/>
        </a:xfrm>
      </p:grpSpPr>
      <p:sp>
        <p:nvSpPr>
          <p:cNvPr id="10" name="Title 1" descr="Poster title"/>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bg1"/>
                </a:solidFill>
              </a:defRPr>
            </a:lvl1pPr>
          </a:lstStyle>
          <a:p>
            <a:r>
              <a:rPr lang="en-US" dirty="0"/>
              <a:t>Click to add title – Arial bold 72pt</a:t>
            </a:r>
            <a:endParaRPr lang="en-GB" dirty="0"/>
          </a:p>
        </p:txBody>
      </p:sp>
      <p:sp>
        <p:nvSpPr>
          <p:cNvPr id="11" name="Text Placeholder 5" descr="Authors"/>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13" name="Text Placeholder 7" descr="Department or institution"/>
          <p:cNvSpPr>
            <a:spLocks noGrp="1"/>
          </p:cNvSpPr>
          <p:nvPr>
            <p:ph type="body" sz="quarter" idx="11" hasCustomPrompt="1"/>
          </p:nvPr>
        </p:nvSpPr>
        <p:spPr>
          <a:xfrm>
            <a:off x="1058785" y="4074786"/>
            <a:ext cx="35504166" cy="480131"/>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2800" b="1">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t>
            </a:r>
            <a:r>
              <a:rPr lang="en-US" dirty="0" err="1"/>
              <a:t>affilliations</a:t>
            </a:r>
            <a:r>
              <a:rPr lang="en-US" dirty="0"/>
              <a:t> – Arial bold 28pt</a:t>
            </a:r>
            <a:endParaRPr lang="en-GB" dirty="0"/>
          </a:p>
        </p:txBody>
      </p:sp>
      <p:sp>
        <p:nvSpPr>
          <p:cNvPr id="14" name="Text Placeholder 3" descr="Exclusion area"/>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bg1"/>
                </a:solidFill>
              </a:defRPr>
            </a:lvl1pPr>
            <a:lvl2pPr>
              <a:defRPr sz="4294"/>
            </a:lvl2pPr>
            <a:lvl3pPr>
              <a:defRPr sz="3816"/>
            </a:lvl3pPr>
            <a:lvl4pPr>
              <a:defRPr sz="3180"/>
            </a:lvl4pPr>
            <a:lvl5pPr>
              <a:defRPr sz="3180"/>
            </a:lvl5pPr>
          </a:lstStyle>
          <a:p>
            <a:pPr lvl="0"/>
            <a:r>
              <a:rPr lang="en-GB" dirty="0"/>
              <a:t>Keep this area clear</a:t>
            </a:r>
          </a:p>
        </p:txBody>
      </p:sp>
      <p:sp>
        <p:nvSpPr>
          <p:cNvPr id="15" name="Text Placeholder 19" descr="Contact details"/>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bg1"/>
                </a:solidFill>
              </a:defRPr>
            </a:lvl1pPr>
          </a:lstStyle>
          <a:p>
            <a:pPr lvl="0"/>
            <a:r>
              <a:rPr lang="en-US" dirty="0"/>
              <a:t>Add contact details here</a:t>
            </a:r>
            <a:endParaRPr lang="en-GB" dirty="0"/>
          </a:p>
        </p:txBody>
      </p:sp>
      <p:sp>
        <p:nvSpPr>
          <p:cNvPr id="17" name="Text Placeholder 17" descr="Collaborator logos"/>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bg1"/>
                </a:solidFill>
              </a:defRPr>
            </a:lvl1pPr>
          </a:lstStyle>
          <a:p>
            <a:pPr lvl="0"/>
            <a:r>
              <a:rPr lang="en-US" dirty="0"/>
              <a:t>Add collaborator logos here</a:t>
            </a:r>
          </a:p>
        </p:txBody>
      </p:sp>
    </p:spTree>
    <p:extLst>
      <p:ext uri="{BB962C8B-B14F-4D97-AF65-F5344CB8AC3E}">
        <p14:creationId xmlns:p14="http://schemas.microsoft.com/office/powerpoint/2010/main" val="159683929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9" orient="horz" pos="3684">
          <p15:clr>
            <a:srgbClr val="FBAE40"/>
          </p15:clr>
        </p15:guide>
        <p15:guide id="40" pos="13254">
          <p15:clr>
            <a:srgbClr val="FBAE40"/>
          </p15:clr>
        </p15:guide>
        <p15:guide id="41" pos="13707">
          <p15:clr>
            <a:srgbClr val="FBAE40"/>
          </p15:clr>
        </p15:guide>
        <p15:guide id="42" pos="6722">
          <p15:clr>
            <a:srgbClr val="FBAE40"/>
          </p15:clr>
        </p15:guide>
        <p15:guide id="43" pos="7176">
          <p15:clr>
            <a:srgbClr val="FBAE40"/>
          </p15:clr>
        </p15:guide>
        <p15:guide id="44" pos="20239">
          <p15:clr>
            <a:srgbClr val="FBAE40"/>
          </p15:clr>
        </p15:guide>
        <p15:guide id="45" pos="19785">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0 Landscape Poster -  4 columns v1">
    <p:spTree>
      <p:nvGrpSpPr>
        <p:cNvPr id="1" name=""/>
        <p:cNvGrpSpPr/>
        <p:nvPr/>
      </p:nvGrpSpPr>
      <p:grpSpPr>
        <a:xfrm>
          <a:off x="0" y="0"/>
          <a:ext cx="0" cy="0"/>
          <a:chOff x="0" y="0"/>
          <a:chExt cx="0" cy="0"/>
        </a:xfrm>
      </p:grpSpPr>
      <p:sp>
        <p:nvSpPr>
          <p:cNvPr id="10" name="Title 1" descr="Poster title"/>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bg1"/>
                </a:solidFill>
              </a:defRPr>
            </a:lvl1pPr>
          </a:lstStyle>
          <a:p>
            <a:r>
              <a:rPr lang="en-US" dirty="0"/>
              <a:t>Click to add title – Arial bold 72pt</a:t>
            </a:r>
            <a:endParaRPr lang="en-GB" dirty="0"/>
          </a:p>
        </p:txBody>
      </p:sp>
      <p:sp>
        <p:nvSpPr>
          <p:cNvPr id="11"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13" name="Text Placeholder 7"/>
          <p:cNvSpPr>
            <a:spLocks noGrp="1"/>
          </p:cNvSpPr>
          <p:nvPr>
            <p:ph type="body" sz="quarter" idx="11" hasCustomPrompt="1"/>
          </p:nvPr>
        </p:nvSpPr>
        <p:spPr>
          <a:xfrm>
            <a:off x="1058785" y="4074786"/>
            <a:ext cx="35504166" cy="480131"/>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2800" b="1" baseline="0">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t>
            </a:r>
            <a:r>
              <a:rPr lang="en-US" dirty="0" err="1"/>
              <a:t>affilliations</a:t>
            </a:r>
            <a:r>
              <a:rPr lang="en-GB" dirty="0"/>
              <a:t> </a:t>
            </a:r>
            <a:r>
              <a:rPr lang="en-US" dirty="0"/>
              <a:t>– Arial bold 28pt</a:t>
            </a:r>
            <a:endParaRPr lang="en-GB" dirty="0"/>
          </a:p>
        </p:txBody>
      </p:sp>
      <p:sp>
        <p:nvSpPr>
          <p:cNvPr id="1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bg1"/>
                </a:solidFill>
              </a:defRPr>
            </a:lvl1pPr>
            <a:lvl2pPr>
              <a:defRPr sz="4294"/>
            </a:lvl2pPr>
            <a:lvl3pPr>
              <a:defRPr sz="3816"/>
            </a:lvl3pPr>
            <a:lvl4pPr>
              <a:defRPr sz="3180"/>
            </a:lvl4pPr>
            <a:lvl5pPr>
              <a:defRPr sz="3180"/>
            </a:lvl5pPr>
          </a:lstStyle>
          <a:p>
            <a:pPr lvl="0"/>
            <a:r>
              <a:rPr lang="en-GB" dirty="0"/>
              <a:t>Keep this area clear</a:t>
            </a:r>
          </a:p>
        </p:txBody>
      </p:sp>
      <p:sp>
        <p:nvSpPr>
          <p:cNvPr id="2" name="Rectangle 1">
            <a:extLst>
              <a:ext uri="{C183D7F6-B498-43B3-948B-1728B52AA6E4}">
                <adec:decorative xmlns:adec="http://schemas.microsoft.com/office/drawing/2017/decorative" val="1"/>
              </a:ext>
            </a:extLst>
          </p:cNvPr>
          <p:cNvSpPr/>
          <p:nvPr/>
        </p:nvSpPr>
        <p:spPr>
          <a:xfrm>
            <a:off x="1022400" y="5856016"/>
            <a:ext cx="9647284" cy="217321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 name="Content Placeholder 3"/>
          <p:cNvSpPr>
            <a:spLocks noGrp="1"/>
          </p:cNvSpPr>
          <p:nvPr>
            <p:ph sz="quarter" idx="15" hasCustomPrompt="1"/>
          </p:nvPr>
        </p:nvSpPr>
        <p:spPr>
          <a:xfrm>
            <a:off x="1022400" y="5856016"/>
            <a:ext cx="9647284" cy="21732187"/>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b="0" i="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2" name="Rectangle 11">
            <a:extLst>
              <a:ext uri="{C183D7F6-B498-43B3-948B-1728B52AA6E4}">
                <adec:decorative xmlns:adec="http://schemas.microsoft.com/office/drawing/2017/decorative" val="1"/>
              </a:ext>
            </a:extLst>
          </p:cNvPr>
          <p:cNvSpPr/>
          <p:nvPr/>
        </p:nvSpPr>
        <p:spPr>
          <a:xfrm>
            <a:off x="11417536" y="5856016"/>
            <a:ext cx="9623189" cy="217321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6" name="Content Placeholder 3"/>
          <p:cNvSpPr>
            <a:spLocks noGrp="1"/>
          </p:cNvSpPr>
          <p:nvPr>
            <p:ph sz="quarter" idx="16" hasCustomPrompt="1"/>
          </p:nvPr>
        </p:nvSpPr>
        <p:spPr>
          <a:xfrm>
            <a:off x="11417535" y="5856016"/>
            <a:ext cx="9623189" cy="21732187"/>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18" name="Rectangle 17">
            <a:extLst>
              <a:ext uri="{C183D7F6-B498-43B3-948B-1728B52AA6E4}">
                <adec:decorative xmlns:adec="http://schemas.microsoft.com/office/drawing/2017/decorative" val="1"/>
              </a:ext>
            </a:extLst>
          </p:cNvPr>
          <p:cNvSpPr/>
          <p:nvPr/>
        </p:nvSpPr>
        <p:spPr>
          <a:xfrm>
            <a:off x="21743509" y="5856016"/>
            <a:ext cx="9647284" cy="217321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9" name="Content Placeholder 3"/>
          <p:cNvSpPr>
            <a:spLocks noGrp="1"/>
          </p:cNvSpPr>
          <p:nvPr>
            <p:ph sz="quarter" idx="17" hasCustomPrompt="1"/>
          </p:nvPr>
        </p:nvSpPr>
        <p:spPr>
          <a:xfrm>
            <a:off x="21743509" y="5856016"/>
            <a:ext cx="9647284" cy="21732187"/>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0" name="Rectangle 19">
            <a:extLst>
              <a:ext uri="{C183D7F6-B498-43B3-948B-1728B52AA6E4}">
                <adec:decorative xmlns:adec="http://schemas.microsoft.com/office/drawing/2017/decorative" val="1"/>
              </a:ext>
            </a:extLst>
          </p:cNvPr>
          <p:cNvSpPr/>
          <p:nvPr/>
        </p:nvSpPr>
        <p:spPr>
          <a:xfrm>
            <a:off x="32127972" y="5856016"/>
            <a:ext cx="9647284" cy="2173218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1" name="Content Placeholder 3"/>
          <p:cNvSpPr>
            <a:spLocks noGrp="1"/>
          </p:cNvSpPr>
          <p:nvPr>
            <p:ph sz="quarter" idx="18" hasCustomPrompt="1"/>
          </p:nvPr>
        </p:nvSpPr>
        <p:spPr>
          <a:xfrm>
            <a:off x="32126400" y="5856016"/>
            <a:ext cx="9647284" cy="21732187"/>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5"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bg1"/>
                </a:solidFill>
              </a:defRPr>
            </a:lvl1pPr>
          </a:lstStyle>
          <a:p>
            <a:pPr lvl="0"/>
            <a:r>
              <a:rPr lang="en-US" dirty="0"/>
              <a:t>Add contact details here</a:t>
            </a:r>
            <a:endParaRPr lang="en-GB" dirty="0"/>
          </a:p>
        </p:txBody>
      </p:sp>
      <p:sp>
        <p:nvSpPr>
          <p:cNvPr id="17"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bg1"/>
                </a:solidFill>
              </a:defRPr>
            </a:lvl1pPr>
          </a:lstStyle>
          <a:p>
            <a:pPr lvl="0"/>
            <a:r>
              <a:rPr lang="en-US" dirty="0"/>
              <a:t>Add collaborator logos here</a:t>
            </a:r>
          </a:p>
        </p:txBody>
      </p:sp>
    </p:spTree>
    <p:extLst>
      <p:ext uri="{BB962C8B-B14F-4D97-AF65-F5344CB8AC3E}">
        <p14:creationId xmlns:p14="http://schemas.microsoft.com/office/powerpoint/2010/main" val="80112885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9">
          <p15:clr>
            <a:srgbClr val="FBAE40"/>
          </p15:clr>
        </p15:guide>
        <p15:guide id="40" orient="horz" pos="3684">
          <p15:clr>
            <a:srgbClr val="FBAE40"/>
          </p15:clr>
        </p15:guide>
        <p15:guide id="41" pos="13254">
          <p15:clr>
            <a:srgbClr val="FBAE40"/>
          </p15:clr>
        </p15:guide>
        <p15:guide id="42" pos="13707">
          <p15:clr>
            <a:srgbClr val="FBAE40"/>
          </p15:clr>
        </p15:guide>
        <p15:guide id="45" pos="19785">
          <p15:clr>
            <a:srgbClr val="FBAE40"/>
          </p15:clr>
        </p15:guide>
        <p15:guide id="46" pos="20239">
          <p15:clr>
            <a:srgbClr val="FBAE40"/>
          </p15:clr>
        </p15:guide>
        <p15:guide id="47" pos="7176">
          <p15:clr>
            <a:srgbClr val="FBAE40"/>
          </p15:clr>
        </p15:guide>
        <p15:guide id="48" pos="672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0 Landscape Poster - 3 columns, 7 boxes">
    <p:spTree>
      <p:nvGrpSpPr>
        <p:cNvPr id="1" name=""/>
        <p:cNvGrpSpPr/>
        <p:nvPr/>
      </p:nvGrpSpPr>
      <p:grpSpPr>
        <a:xfrm>
          <a:off x="0" y="0"/>
          <a:ext cx="0" cy="0"/>
          <a:chOff x="0" y="0"/>
          <a:chExt cx="0" cy="0"/>
        </a:xfrm>
      </p:grpSpPr>
      <p:sp>
        <p:nvSpPr>
          <p:cNvPr id="10" name="Title 1" descr="Poster title"/>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bg1"/>
                </a:solidFill>
              </a:defRPr>
            </a:lvl1pPr>
          </a:lstStyle>
          <a:p>
            <a:r>
              <a:rPr lang="en-US" dirty="0"/>
              <a:t>Click to add title – Arial bold 72pt</a:t>
            </a:r>
            <a:endParaRPr lang="en-GB" dirty="0"/>
          </a:p>
        </p:txBody>
      </p:sp>
      <p:sp>
        <p:nvSpPr>
          <p:cNvPr id="11"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13" name="Text Placeholder 7"/>
          <p:cNvSpPr>
            <a:spLocks noGrp="1"/>
          </p:cNvSpPr>
          <p:nvPr>
            <p:ph type="body" sz="quarter" idx="11" hasCustomPrompt="1"/>
          </p:nvPr>
        </p:nvSpPr>
        <p:spPr>
          <a:xfrm>
            <a:off x="1058785" y="4074786"/>
            <a:ext cx="35504166" cy="480131"/>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2800" b="1">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t>
            </a:r>
            <a:r>
              <a:rPr lang="en-US" dirty="0" err="1"/>
              <a:t>affilliations</a:t>
            </a:r>
            <a:r>
              <a:rPr lang="en-US" dirty="0"/>
              <a:t> – Arial bold 28pt</a:t>
            </a:r>
            <a:endParaRPr lang="en-GB" dirty="0"/>
          </a:p>
        </p:txBody>
      </p:sp>
      <p:sp>
        <p:nvSpPr>
          <p:cNvPr id="1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bg1"/>
                </a:solidFill>
              </a:defRPr>
            </a:lvl1pPr>
            <a:lvl2pPr>
              <a:defRPr sz="4294"/>
            </a:lvl2pPr>
            <a:lvl3pPr>
              <a:defRPr sz="3816"/>
            </a:lvl3pPr>
            <a:lvl4pPr>
              <a:defRPr sz="3180"/>
            </a:lvl4pPr>
            <a:lvl5pPr>
              <a:defRPr sz="3180"/>
            </a:lvl5pPr>
          </a:lstStyle>
          <a:p>
            <a:pPr lvl="0"/>
            <a:r>
              <a:rPr lang="en-GB" dirty="0"/>
              <a:t>Keep this area clear</a:t>
            </a:r>
          </a:p>
        </p:txBody>
      </p:sp>
      <p:sp>
        <p:nvSpPr>
          <p:cNvPr id="22" name="Rectangle 21">
            <a:extLst>
              <a:ext uri="{C183D7F6-B498-43B3-948B-1728B52AA6E4}">
                <adec:decorative xmlns:adec="http://schemas.microsoft.com/office/drawing/2017/decorative" val="1"/>
              </a:ext>
            </a:extLst>
          </p:cNvPr>
          <p:cNvSpPr/>
          <p:nvPr/>
        </p:nvSpPr>
        <p:spPr>
          <a:xfrm>
            <a:off x="1022400" y="5857199"/>
            <a:ext cx="9647284" cy="76968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3" name="Content Placeholder 3"/>
          <p:cNvSpPr>
            <a:spLocks noGrp="1"/>
          </p:cNvSpPr>
          <p:nvPr>
            <p:ph sz="quarter" idx="18" hasCustomPrompt="1"/>
          </p:nvPr>
        </p:nvSpPr>
        <p:spPr>
          <a:xfrm>
            <a:off x="1022400" y="5857199"/>
            <a:ext cx="9647284" cy="7696875"/>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1" name="Rectangle 30">
            <a:extLst>
              <a:ext uri="{C183D7F6-B498-43B3-948B-1728B52AA6E4}">
                <adec:decorative xmlns:adec="http://schemas.microsoft.com/office/drawing/2017/decorative" val="1"/>
              </a:ext>
            </a:extLst>
          </p:cNvPr>
          <p:cNvSpPr/>
          <p:nvPr/>
        </p:nvSpPr>
        <p:spPr>
          <a:xfrm>
            <a:off x="1029757" y="14270352"/>
            <a:ext cx="9647284" cy="77085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2" name="Content Placeholder 3"/>
          <p:cNvSpPr>
            <a:spLocks noGrp="1"/>
          </p:cNvSpPr>
          <p:nvPr>
            <p:ph sz="quarter" idx="20" hasCustomPrompt="1"/>
          </p:nvPr>
        </p:nvSpPr>
        <p:spPr>
          <a:xfrm>
            <a:off x="1029757" y="14270352"/>
            <a:ext cx="9647284" cy="7708586"/>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3" name="Rectangle 32">
            <a:extLst>
              <a:ext uri="{C183D7F6-B498-43B3-948B-1728B52AA6E4}">
                <adec:decorative xmlns:adec="http://schemas.microsoft.com/office/drawing/2017/decorative" val="1"/>
              </a:ext>
            </a:extLst>
          </p:cNvPr>
          <p:cNvSpPr/>
          <p:nvPr/>
        </p:nvSpPr>
        <p:spPr>
          <a:xfrm>
            <a:off x="1022400" y="22698075"/>
            <a:ext cx="9647284" cy="489743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4" name="Content Placeholder 3"/>
          <p:cNvSpPr>
            <a:spLocks noGrp="1"/>
          </p:cNvSpPr>
          <p:nvPr>
            <p:ph sz="quarter" idx="21" hasCustomPrompt="1"/>
          </p:nvPr>
        </p:nvSpPr>
        <p:spPr>
          <a:xfrm>
            <a:off x="1022400" y="22698075"/>
            <a:ext cx="9647284" cy="4897437"/>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8" name="Rectangle 7">
            <a:extLst>
              <a:ext uri="{C183D7F6-B498-43B3-948B-1728B52AA6E4}">
                <adec:decorative xmlns:adec="http://schemas.microsoft.com/office/drawing/2017/decorative" val="1"/>
              </a:ext>
            </a:extLst>
          </p:cNvPr>
          <p:cNvSpPr/>
          <p:nvPr/>
        </p:nvSpPr>
        <p:spPr>
          <a:xfrm>
            <a:off x="11403021" y="5857200"/>
            <a:ext cx="20005667" cy="217383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9" name="Content Placeholder 3"/>
          <p:cNvSpPr>
            <a:spLocks noGrp="1"/>
          </p:cNvSpPr>
          <p:nvPr>
            <p:ph sz="quarter" idx="16" hasCustomPrompt="1"/>
          </p:nvPr>
        </p:nvSpPr>
        <p:spPr>
          <a:xfrm>
            <a:off x="11403021" y="5857200"/>
            <a:ext cx="20005667" cy="21738313"/>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a:defRPr sz="5399" b="1">
                <a:latin typeface="+mj-lt"/>
              </a:defRPr>
            </a:lvl2pPr>
            <a:lvl3pPr>
              <a:defRPr sz="4800" b="1">
                <a:latin typeface="+mj-lt"/>
              </a:defRPr>
            </a:lvl3pPr>
            <a:lvl4pPr>
              <a:defRPr sz="2400"/>
            </a:lvl4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5" name="Rectangle 34">
            <a:extLst>
              <a:ext uri="{C183D7F6-B498-43B3-948B-1728B52AA6E4}">
                <adec:decorative xmlns:adec="http://schemas.microsoft.com/office/drawing/2017/decorative" val="1"/>
              </a:ext>
            </a:extLst>
          </p:cNvPr>
          <p:cNvSpPr/>
          <p:nvPr/>
        </p:nvSpPr>
        <p:spPr>
          <a:xfrm>
            <a:off x="32131435" y="5857200"/>
            <a:ext cx="9647284" cy="4885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6" name="Content Placeholder 3"/>
          <p:cNvSpPr>
            <a:spLocks noGrp="1"/>
          </p:cNvSpPr>
          <p:nvPr>
            <p:ph sz="quarter" idx="22" hasCustomPrompt="1"/>
          </p:nvPr>
        </p:nvSpPr>
        <p:spPr>
          <a:xfrm>
            <a:off x="32131435" y="5857200"/>
            <a:ext cx="9647284" cy="488548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37" name="Rectangle 36">
            <a:extLst>
              <a:ext uri="{C183D7F6-B498-43B3-948B-1728B52AA6E4}">
                <adec:decorative xmlns:adec="http://schemas.microsoft.com/office/drawing/2017/decorative" val="1"/>
              </a:ext>
            </a:extLst>
          </p:cNvPr>
          <p:cNvSpPr/>
          <p:nvPr/>
        </p:nvSpPr>
        <p:spPr>
          <a:xfrm>
            <a:off x="32130000" y="11456066"/>
            <a:ext cx="9647284" cy="77145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8" name="Content Placeholder 3"/>
          <p:cNvSpPr>
            <a:spLocks noGrp="1"/>
          </p:cNvSpPr>
          <p:nvPr>
            <p:ph sz="quarter" idx="23" hasCustomPrompt="1"/>
          </p:nvPr>
        </p:nvSpPr>
        <p:spPr>
          <a:xfrm>
            <a:off x="32130000" y="11456066"/>
            <a:ext cx="9647284" cy="7714584"/>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9" name="Rectangle 38">
            <a:extLst>
              <a:ext uri="{C183D7F6-B498-43B3-948B-1728B52AA6E4}">
                <adec:decorative xmlns:adec="http://schemas.microsoft.com/office/drawing/2017/decorative" val="1"/>
              </a:ext>
            </a:extLst>
          </p:cNvPr>
          <p:cNvSpPr/>
          <p:nvPr/>
        </p:nvSpPr>
        <p:spPr>
          <a:xfrm>
            <a:off x="32130000" y="19920313"/>
            <a:ext cx="9647284" cy="7675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0" name="Content Placeholder 3"/>
          <p:cNvSpPr>
            <a:spLocks noGrp="1"/>
          </p:cNvSpPr>
          <p:nvPr>
            <p:ph sz="quarter" idx="24" hasCustomPrompt="1"/>
          </p:nvPr>
        </p:nvSpPr>
        <p:spPr>
          <a:xfrm>
            <a:off x="32130000" y="19919601"/>
            <a:ext cx="9647284" cy="767591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15"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bg1"/>
                </a:solidFill>
              </a:defRPr>
            </a:lvl1pPr>
          </a:lstStyle>
          <a:p>
            <a:pPr lvl="0"/>
            <a:r>
              <a:rPr lang="en-US" dirty="0"/>
              <a:t>Add contact details here</a:t>
            </a:r>
            <a:endParaRPr lang="en-GB" dirty="0"/>
          </a:p>
        </p:txBody>
      </p:sp>
      <p:sp>
        <p:nvSpPr>
          <p:cNvPr id="17"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bg1"/>
                </a:solidFill>
              </a:defRPr>
            </a:lvl1pPr>
          </a:lstStyle>
          <a:p>
            <a:pPr lvl="0"/>
            <a:r>
              <a:rPr lang="en-US" dirty="0"/>
              <a:t>Add collaborator logos here</a:t>
            </a:r>
          </a:p>
        </p:txBody>
      </p:sp>
    </p:spTree>
    <p:extLst>
      <p:ext uri="{BB962C8B-B14F-4D97-AF65-F5344CB8AC3E}">
        <p14:creationId xmlns:p14="http://schemas.microsoft.com/office/powerpoint/2010/main" val="335737210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9" orient="horz" pos="3684">
          <p15:clr>
            <a:srgbClr val="FBAE40"/>
          </p15:clr>
        </p15:guide>
        <p15:guide id="40" pos="7176">
          <p15:clr>
            <a:srgbClr val="FBAE40"/>
          </p15:clr>
        </p15:guide>
        <p15:guide id="41" pos="19785">
          <p15:clr>
            <a:srgbClr val="FBAE40"/>
          </p15:clr>
        </p15:guide>
        <p15:guide id="42" pos="6722">
          <p15:clr>
            <a:srgbClr val="FBAE40"/>
          </p15:clr>
        </p15:guide>
        <p15:guide id="43" pos="2023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0 Landscape Poster -  4 columns v2">
    <p:spTree>
      <p:nvGrpSpPr>
        <p:cNvPr id="1" name=""/>
        <p:cNvGrpSpPr/>
        <p:nvPr/>
      </p:nvGrpSpPr>
      <p:grpSpPr>
        <a:xfrm>
          <a:off x="0" y="0"/>
          <a:ext cx="0" cy="0"/>
          <a:chOff x="0" y="0"/>
          <a:chExt cx="0" cy="0"/>
        </a:xfrm>
      </p:grpSpPr>
      <p:sp>
        <p:nvSpPr>
          <p:cNvPr id="10" name="Title 1" descr="Poster title"/>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bg1"/>
                </a:solidFill>
              </a:defRPr>
            </a:lvl1pPr>
          </a:lstStyle>
          <a:p>
            <a:r>
              <a:rPr lang="en-US" dirty="0"/>
              <a:t>Click to add title – Arial bold 72pt</a:t>
            </a:r>
            <a:endParaRPr lang="en-GB" dirty="0"/>
          </a:p>
        </p:txBody>
      </p:sp>
      <p:sp>
        <p:nvSpPr>
          <p:cNvPr id="11"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13" name="Text Placeholder 7"/>
          <p:cNvSpPr>
            <a:spLocks noGrp="1"/>
          </p:cNvSpPr>
          <p:nvPr>
            <p:ph type="body" sz="quarter" idx="11" hasCustomPrompt="1"/>
          </p:nvPr>
        </p:nvSpPr>
        <p:spPr>
          <a:xfrm>
            <a:off x="1058785" y="4074786"/>
            <a:ext cx="35504166" cy="480131"/>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2800" b="1">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t>
            </a:r>
            <a:r>
              <a:rPr lang="en-US" dirty="0" err="1"/>
              <a:t>affilliations</a:t>
            </a:r>
            <a:r>
              <a:rPr lang="en-US" dirty="0"/>
              <a:t> – Arial bold 28pt</a:t>
            </a:r>
            <a:endParaRPr lang="en-GB" dirty="0"/>
          </a:p>
        </p:txBody>
      </p:sp>
      <p:sp>
        <p:nvSpPr>
          <p:cNvPr id="1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bg1"/>
                </a:solidFill>
              </a:defRPr>
            </a:lvl1pPr>
            <a:lvl2pPr>
              <a:defRPr sz="4294"/>
            </a:lvl2pPr>
            <a:lvl3pPr>
              <a:defRPr sz="3816"/>
            </a:lvl3pPr>
            <a:lvl4pPr>
              <a:defRPr sz="3180"/>
            </a:lvl4pPr>
            <a:lvl5pPr>
              <a:defRPr sz="3180"/>
            </a:lvl5pPr>
          </a:lstStyle>
          <a:p>
            <a:pPr lvl="0"/>
            <a:r>
              <a:rPr lang="en-GB" dirty="0"/>
              <a:t>Keep this area clear</a:t>
            </a:r>
          </a:p>
        </p:txBody>
      </p:sp>
      <p:sp>
        <p:nvSpPr>
          <p:cNvPr id="22" name="Rectangle 21">
            <a:extLst>
              <a:ext uri="{C183D7F6-B498-43B3-948B-1728B52AA6E4}">
                <adec:decorative xmlns:adec="http://schemas.microsoft.com/office/drawing/2017/decorative" val="1"/>
              </a:ext>
            </a:extLst>
          </p:cNvPr>
          <p:cNvSpPr/>
          <p:nvPr/>
        </p:nvSpPr>
        <p:spPr>
          <a:xfrm>
            <a:off x="1022400" y="5857199"/>
            <a:ext cx="9647284" cy="76968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3" name="Content Placeholder 3"/>
          <p:cNvSpPr>
            <a:spLocks noGrp="1"/>
          </p:cNvSpPr>
          <p:nvPr>
            <p:ph sz="quarter" idx="18" hasCustomPrompt="1"/>
          </p:nvPr>
        </p:nvSpPr>
        <p:spPr>
          <a:xfrm>
            <a:off x="1022400" y="5857199"/>
            <a:ext cx="9647284" cy="7696875"/>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31" name="Rectangle 30">
            <a:extLst>
              <a:ext uri="{C183D7F6-B498-43B3-948B-1728B52AA6E4}">
                <adec:decorative xmlns:adec="http://schemas.microsoft.com/office/drawing/2017/decorative" val="1"/>
              </a:ext>
            </a:extLst>
          </p:cNvPr>
          <p:cNvSpPr/>
          <p:nvPr/>
        </p:nvSpPr>
        <p:spPr>
          <a:xfrm>
            <a:off x="1022400" y="14270352"/>
            <a:ext cx="9647284" cy="77085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2" name="Content Placeholder 3"/>
          <p:cNvSpPr>
            <a:spLocks noGrp="1"/>
          </p:cNvSpPr>
          <p:nvPr>
            <p:ph sz="quarter" idx="20" hasCustomPrompt="1"/>
          </p:nvPr>
        </p:nvSpPr>
        <p:spPr>
          <a:xfrm>
            <a:off x="1022400" y="14270352"/>
            <a:ext cx="9647284" cy="7708586"/>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33" name="Rectangle 32">
            <a:extLst>
              <a:ext uri="{C183D7F6-B498-43B3-948B-1728B52AA6E4}">
                <adec:decorative xmlns:adec="http://schemas.microsoft.com/office/drawing/2017/decorative" val="1"/>
              </a:ext>
            </a:extLst>
          </p:cNvPr>
          <p:cNvSpPr/>
          <p:nvPr/>
        </p:nvSpPr>
        <p:spPr>
          <a:xfrm>
            <a:off x="1022400" y="22687007"/>
            <a:ext cx="9647284" cy="49069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4" name="Content Placeholder 3"/>
          <p:cNvSpPr>
            <a:spLocks noGrp="1"/>
          </p:cNvSpPr>
          <p:nvPr>
            <p:ph sz="quarter" idx="21" hasCustomPrompt="1"/>
          </p:nvPr>
        </p:nvSpPr>
        <p:spPr>
          <a:xfrm>
            <a:off x="1022400" y="22687007"/>
            <a:ext cx="9647284" cy="490699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8" name="Rectangle 7">
            <a:extLst>
              <a:ext uri="{C183D7F6-B498-43B3-948B-1728B52AA6E4}">
                <adec:decorative xmlns:adec="http://schemas.microsoft.com/office/drawing/2017/decorative" val="1"/>
              </a:ext>
            </a:extLst>
          </p:cNvPr>
          <p:cNvSpPr/>
          <p:nvPr/>
        </p:nvSpPr>
        <p:spPr>
          <a:xfrm>
            <a:off x="11389828" y="5857200"/>
            <a:ext cx="9647284" cy="2173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9" name="Content Placeholder 3"/>
          <p:cNvSpPr>
            <a:spLocks noGrp="1"/>
          </p:cNvSpPr>
          <p:nvPr>
            <p:ph sz="quarter" idx="16" hasCustomPrompt="1"/>
          </p:nvPr>
        </p:nvSpPr>
        <p:spPr>
          <a:xfrm>
            <a:off x="11389828" y="5857200"/>
            <a:ext cx="9647284" cy="21736800"/>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b="0">
                <a:latin typeface="+mj-lt"/>
              </a:defRPr>
            </a:lvl1pPr>
            <a:lvl2pPr>
              <a:defRPr sz="5399" b="1">
                <a:latin typeface="+mj-lt"/>
              </a:defRPr>
            </a:lvl2pPr>
            <a:lvl3pPr>
              <a:defRPr sz="4800" b="1">
                <a:latin typeface="+mj-lt"/>
              </a:defRPr>
            </a:lvl3pPr>
            <a:lvl4pPr>
              <a:defRPr sz="2400"/>
            </a:lvl4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2" name="Rectangle 11">
            <a:extLst>
              <a:ext uri="{C183D7F6-B498-43B3-948B-1728B52AA6E4}">
                <adec:decorative xmlns:adec="http://schemas.microsoft.com/office/drawing/2017/decorative" val="1"/>
              </a:ext>
            </a:extLst>
          </p:cNvPr>
          <p:cNvSpPr/>
          <p:nvPr/>
        </p:nvSpPr>
        <p:spPr>
          <a:xfrm>
            <a:off x="21764130" y="5857199"/>
            <a:ext cx="9647284" cy="2173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6" name="Content Placeholder 3"/>
          <p:cNvSpPr>
            <a:spLocks noGrp="1"/>
          </p:cNvSpPr>
          <p:nvPr>
            <p:ph sz="quarter" idx="17" hasCustomPrompt="1"/>
          </p:nvPr>
        </p:nvSpPr>
        <p:spPr>
          <a:xfrm>
            <a:off x="21764130" y="5857200"/>
            <a:ext cx="9647284" cy="21736800"/>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5" name="Rectangle 34">
            <a:extLst>
              <a:ext uri="{C183D7F6-B498-43B3-948B-1728B52AA6E4}">
                <adec:decorative xmlns:adec="http://schemas.microsoft.com/office/drawing/2017/decorative" val="1"/>
              </a:ext>
            </a:extLst>
          </p:cNvPr>
          <p:cNvSpPr/>
          <p:nvPr/>
        </p:nvSpPr>
        <p:spPr>
          <a:xfrm>
            <a:off x="32139088" y="5857200"/>
            <a:ext cx="9639150" cy="4885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6" name="Content Placeholder 3"/>
          <p:cNvSpPr>
            <a:spLocks noGrp="1"/>
          </p:cNvSpPr>
          <p:nvPr>
            <p:ph sz="quarter" idx="22" hasCustomPrompt="1"/>
          </p:nvPr>
        </p:nvSpPr>
        <p:spPr>
          <a:xfrm>
            <a:off x="32139088" y="5857200"/>
            <a:ext cx="9639150" cy="488548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7" name="Rectangle 36">
            <a:extLst>
              <a:ext uri="{C183D7F6-B498-43B3-948B-1728B52AA6E4}">
                <adec:decorative xmlns:adec="http://schemas.microsoft.com/office/drawing/2017/decorative" val="1"/>
              </a:ext>
            </a:extLst>
          </p:cNvPr>
          <p:cNvSpPr/>
          <p:nvPr/>
        </p:nvSpPr>
        <p:spPr>
          <a:xfrm>
            <a:off x="32139088" y="11456066"/>
            <a:ext cx="9639150" cy="771458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8" name="Content Placeholder 3"/>
          <p:cNvSpPr>
            <a:spLocks noGrp="1"/>
          </p:cNvSpPr>
          <p:nvPr>
            <p:ph sz="quarter" idx="23" hasCustomPrompt="1"/>
          </p:nvPr>
        </p:nvSpPr>
        <p:spPr>
          <a:xfrm>
            <a:off x="32139088" y="11456066"/>
            <a:ext cx="9639150" cy="7714584"/>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a:defRPr lang="en-US" sz="4000" b="0" kern="1200" dirty="0" smtClean="0">
                <a:solidFill>
                  <a:schemeClr val="tx1"/>
                </a:solidFill>
                <a:latin typeface="+mj-lt"/>
                <a:ea typeface="+mn-ea"/>
                <a:cs typeface="+mn-cs"/>
              </a:defRPr>
            </a:lvl2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39" name="Rectangle 38">
            <a:extLst>
              <a:ext uri="{C183D7F6-B498-43B3-948B-1728B52AA6E4}">
                <adec:decorative xmlns:adec="http://schemas.microsoft.com/office/drawing/2017/decorative" val="1"/>
              </a:ext>
            </a:extLst>
          </p:cNvPr>
          <p:cNvSpPr/>
          <p:nvPr/>
        </p:nvSpPr>
        <p:spPr>
          <a:xfrm>
            <a:off x="32139088" y="19879186"/>
            <a:ext cx="9639150" cy="77177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0" name="Content Placeholder 3"/>
          <p:cNvSpPr>
            <a:spLocks noGrp="1"/>
          </p:cNvSpPr>
          <p:nvPr>
            <p:ph sz="quarter" idx="24" hasCustomPrompt="1"/>
          </p:nvPr>
        </p:nvSpPr>
        <p:spPr>
          <a:xfrm>
            <a:off x="32139088" y="19879186"/>
            <a:ext cx="9639150" cy="7717705"/>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a:defRPr lang="en-US" sz="4000" b="0" kern="1200" dirty="0" smtClean="0">
                <a:solidFill>
                  <a:schemeClr val="tx1"/>
                </a:solidFill>
                <a:latin typeface="+mj-lt"/>
                <a:ea typeface="+mn-ea"/>
                <a:cs typeface="+mn-cs"/>
              </a:defRPr>
            </a:lvl2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15"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bg1"/>
                </a:solidFill>
              </a:defRPr>
            </a:lvl1pPr>
          </a:lstStyle>
          <a:p>
            <a:pPr lvl="0"/>
            <a:r>
              <a:rPr lang="en-US" dirty="0"/>
              <a:t>Add contact details here</a:t>
            </a:r>
            <a:endParaRPr lang="en-GB" dirty="0"/>
          </a:p>
        </p:txBody>
      </p:sp>
      <p:sp>
        <p:nvSpPr>
          <p:cNvPr id="17"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bg1"/>
                </a:solidFill>
              </a:defRPr>
            </a:lvl1pPr>
          </a:lstStyle>
          <a:p>
            <a:pPr lvl="0"/>
            <a:r>
              <a:rPr lang="en-US" dirty="0"/>
              <a:t>Add collaborator logos here</a:t>
            </a:r>
          </a:p>
        </p:txBody>
      </p:sp>
    </p:spTree>
    <p:extLst>
      <p:ext uri="{BB962C8B-B14F-4D97-AF65-F5344CB8AC3E}">
        <p14:creationId xmlns:p14="http://schemas.microsoft.com/office/powerpoint/2010/main" val="263668394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40" orient="horz" pos="3684">
          <p15:clr>
            <a:srgbClr val="FBAE40"/>
          </p15:clr>
        </p15:guide>
        <p15:guide id="41" pos="13254">
          <p15:clr>
            <a:srgbClr val="FBAE40"/>
          </p15:clr>
        </p15:guide>
        <p15:guide id="42" pos="19785">
          <p15:clr>
            <a:srgbClr val="FBAE40"/>
          </p15:clr>
        </p15:guide>
        <p15:guide id="43" pos="20239">
          <p15:clr>
            <a:srgbClr val="FBAE40"/>
          </p15:clr>
        </p15:guide>
        <p15:guide id="44" pos="13707">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A0 Landscape Poster - 3 columns, 11 boxes v1">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bg1"/>
                </a:solidFill>
              </a:defRPr>
            </a:lvl1pPr>
          </a:lstStyle>
          <a:p>
            <a:r>
              <a:rPr lang="en-US" dirty="0"/>
              <a:t>Click to add title – Arial bold 72pt</a:t>
            </a:r>
            <a:endParaRPr lang="en-GB" dirty="0"/>
          </a:p>
        </p:txBody>
      </p:sp>
      <p:sp>
        <p:nvSpPr>
          <p:cNvPr id="11"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13" name="Text Placeholder 7"/>
          <p:cNvSpPr>
            <a:spLocks noGrp="1"/>
          </p:cNvSpPr>
          <p:nvPr>
            <p:ph type="body" sz="quarter" idx="11" hasCustomPrompt="1"/>
          </p:nvPr>
        </p:nvSpPr>
        <p:spPr>
          <a:xfrm>
            <a:off x="1058785" y="4074786"/>
            <a:ext cx="35504166" cy="480131"/>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2800" b="1">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t>
            </a:r>
            <a:r>
              <a:rPr lang="en-US" dirty="0" err="1"/>
              <a:t>affilliations</a:t>
            </a:r>
            <a:r>
              <a:rPr lang="en-US" dirty="0"/>
              <a:t> – Arial bold 28pt</a:t>
            </a:r>
            <a:endParaRPr lang="en-GB" dirty="0"/>
          </a:p>
        </p:txBody>
      </p:sp>
      <p:sp>
        <p:nvSpPr>
          <p:cNvPr id="1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bg1"/>
                </a:solidFill>
              </a:defRPr>
            </a:lvl1pPr>
            <a:lvl2pPr>
              <a:defRPr sz="4294"/>
            </a:lvl2pPr>
            <a:lvl3pPr>
              <a:defRPr sz="3816"/>
            </a:lvl3pPr>
            <a:lvl4pPr>
              <a:defRPr sz="3180"/>
            </a:lvl4pPr>
            <a:lvl5pPr>
              <a:defRPr sz="3180"/>
            </a:lvl5pPr>
          </a:lstStyle>
          <a:p>
            <a:pPr lvl="0"/>
            <a:r>
              <a:rPr lang="en-GB" dirty="0"/>
              <a:t>Keep this area clear</a:t>
            </a:r>
          </a:p>
        </p:txBody>
      </p:sp>
      <p:sp>
        <p:nvSpPr>
          <p:cNvPr id="22" name="Rectangle 21">
            <a:extLst>
              <a:ext uri="{C183D7F6-B498-43B3-948B-1728B52AA6E4}">
                <adec:decorative xmlns:adec="http://schemas.microsoft.com/office/drawing/2017/decorative" val="1"/>
              </a:ext>
            </a:extLst>
          </p:cNvPr>
          <p:cNvSpPr/>
          <p:nvPr/>
        </p:nvSpPr>
        <p:spPr>
          <a:xfrm>
            <a:off x="1022400" y="5857200"/>
            <a:ext cx="9647284" cy="77062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3" name="Content Placeholder 3"/>
          <p:cNvSpPr>
            <a:spLocks noGrp="1"/>
          </p:cNvSpPr>
          <p:nvPr>
            <p:ph sz="quarter" idx="18" hasCustomPrompt="1"/>
          </p:nvPr>
        </p:nvSpPr>
        <p:spPr>
          <a:xfrm>
            <a:off x="1022400" y="5857200"/>
            <a:ext cx="9647284" cy="7706270"/>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31" name="Rectangle 30">
            <a:extLst>
              <a:ext uri="{C183D7F6-B498-43B3-948B-1728B52AA6E4}">
                <adec:decorative xmlns:adec="http://schemas.microsoft.com/office/drawing/2017/decorative" val="1"/>
              </a:ext>
            </a:extLst>
          </p:cNvPr>
          <p:cNvSpPr/>
          <p:nvPr/>
        </p:nvSpPr>
        <p:spPr>
          <a:xfrm>
            <a:off x="1022400" y="14270352"/>
            <a:ext cx="9647284" cy="77085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2" name="Content Placeholder 3"/>
          <p:cNvSpPr>
            <a:spLocks noGrp="1"/>
          </p:cNvSpPr>
          <p:nvPr>
            <p:ph sz="quarter" idx="20" hasCustomPrompt="1"/>
          </p:nvPr>
        </p:nvSpPr>
        <p:spPr>
          <a:xfrm>
            <a:off x="1022400" y="14270352"/>
            <a:ext cx="9647284" cy="7708586"/>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33" name="Rectangle 32">
            <a:extLst>
              <a:ext uri="{C183D7F6-B498-43B3-948B-1728B52AA6E4}">
                <adec:decorative xmlns:adec="http://schemas.microsoft.com/office/drawing/2017/decorative" val="1"/>
              </a:ext>
            </a:extLst>
          </p:cNvPr>
          <p:cNvSpPr/>
          <p:nvPr/>
        </p:nvSpPr>
        <p:spPr>
          <a:xfrm>
            <a:off x="1022400" y="22695215"/>
            <a:ext cx="9647284" cy="490029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4" name="Content Placeholder 3"/>
          <p:cNvSpPr>
            <a:spLocks noGrp="1"/>
          </p:cNvSpPr>
          <p:nvPr>
            <p:ph sz="quarter" idx="21" hasCustomPrompt="1"/>
          </p:nvPr>
        </p:nvSpPr>
        <p:spPr>
          <a:xfrm>
            <a:off x="1022400" y="22695215"/>
            <a:ext cx="9647284" cy="4900298"/>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12" name="Rectangle 11">
            <a:extLst>
              <a:ext uri="{C183D7F6-B498-43B3-948B-1728B52AA6E4}">
                <adec:decorative xmlns:adec="http://schemas.microsoft.com/office/drawing/2017/decorative" val="1"/>
              </a:ext>
            </a:extLst>
          </p:cNvPr>
          <p:cNvSpPr/>
          <p:nvPr/>
        </p:nvSpPr>
        <p:spPr>
          <a:xfrm>
            <a:off x="11392485" y="5857200"/>
            <a:ext cx="6169504" cy="10492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6" name="Content Placeholder 3"/>
          <p:cNvSpPr>
            <a:spLocks noGrp="1"/>
          </p:cNvSpPr>
          <p:nvPr>
            <p:ph sz="quarter" idx="17" hasCustomPrompt="1"/>
          </p:nvPr>
        </p:nvSpPr>
        <p:spPr>
          <a:xfrm>
            <a:off x="11392485" y="5857200"/>
            <a:ext cx="6169504" cy="1049283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5pPr marL="6418641" indent="0">
              <a:buNone/>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6" name="Rectangle 25">
            <a:extLst>
              <a:ext uri="{C183D7F6-B498-43B3-948B-1728B52AA6E4}">
                <adec:decorative xmlns:adec="http://schemas.microsoft.com/office/drawing/2017/decorative" val="1"/>
              </a:ext>
            </a:extLst>
          </p:cNvPr>
          <p:cNvSpPr/>
          <p:nvPr/>
        </p:nvSpPr>
        <p:spPr>
          <a:xfrm>
            <a:off x="18313200" y="5857200"/>
            <a:ext cx="6170400" cy="10492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7" name="Content Placeholder 3"/>
          <p:cNvSpPr>
            <a:spLocks noGrp="1"/>
          </p:cNvSpPr>
          <p:nvPr>
            <p:ph sz="quarter" idx="26" hasCustomPrompt="1"/>
          </p:nvPr>
        </p:nvSpPr>
        <p:spPr>
          <a:xfrm>
            <a:off x="18313200" y="5857200"/>
            <a:ext cx="6170400" cy="1049283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5pPr marL="6418641" indent="0">
              <a:buNone/>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8" name="Rectangle 27">
            <a:extLst>
              <a:ext uri="{C183D7F6-B498-43B3-948B-1728B52AA6E4}">
                <adec:decorative xmlns:adec="http://schemas.microsoft.com/office/drawing/2017/decorative" val="1"/>
              </a:ext>
            </a:extLst>
          </p:cNvPr>
          <p:cNvSpPr/>
          <p:nvPr/>
        </p:nvSpPr>
        <p:spPr>
          <a:xfrm>
            <a:off x="25238859" y="5857200"/>
            <a:ext cx="6170400" cy="1049283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9" name="Content Placeholder 3"/>
          <p:cNvSpPr>
            <a:spLocks noGrp="1"/>
          </p:cNvSpPr>
          <p:nvPr>
            <p:ph sz="quarter" idx="27" hasCustomPrompt="1"/>
          </p:nvPr>
        </p:nvSpPr>
        <p:spPr>
          <a:xfrm>
            <a:off x="25238859" y="5857200"/>
            <a:ext cx="6170400" cy="1049283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8" name="Rectangle 7">
            <a:extLst>
              <a:ext uri="{C183D7F6-B498-43B3-948B-1728B52AA6E4}">
                <adec:decorative xmlns:adec="http://schemas.microsoft.com/office/drawing/2017/decorative" val="1"/>
              </a:ext>
            </a:extLst>
          </p:cNvPr>
          <p:cNvSpPr/>
          <p:nvPr/>
        </p:nvSpPr>
        <p:spPr>
          <a:xfrm>
            <a:off x="11392484" y="17081499"/>
            <a:ext cx="9647284" cy="10514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9" name="Content Placeholder 3"/>
          <p:cNvSpPr>
            <a:spLocks noGrp="1"/>
          </p:cNvSpPr>
          <p:nvPr>
            <p:ph sz="quarter" idx="16" hasCustomPrompt="1"/>
          </p:nvPr>
        </p:nvSpPr>
        <p:spPr>
          <a:xfrm>
            <a:off x="11392484" y="17081499"/>
            <a:ext cx="9647284" cy="10514013"/>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b="0">
                <a:latin typeface="+mj-lt"/>
              </a:defRPr>
            </a:lvl1pPr>
            <a:lvl2pPr>
              <a:defRPr sz="5399" b="1">
                <a:latin typeface="+mj-lt"/>
              </a:defRPr>
            </a:lvl2pPr>
            <a:lvl3pPr>
              <a:defRPr sz="4800" b="1">
                <a:latin typeface="+mj-lt"/>
              </a:defRPr>
            </a:lvl3pPr>
            <a:lvl4pPr>
              <a:defRPr sz="2400"/>
            </a:lvl4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4" name="Rectangle 23">
            <a:extLst>
              <a:ext uri="{C183D7F6-B498-43B3-948B-1728B52AA6E4}">
                <adec:decorative xmlns:adec="http://schemas.microsoft.com/office/drawing/2017/decorative" val="1"/>
              </a:ext>
            </a:extLst>
          </p:cNvPr>
          <p:cNvSpPr/>
          <p:nvPr/>
        </p:nvSpPr>
        <p:spPr>
          <a:xfrm>
            <a:off x="21764940" y="17081499"/>
            <a:ext cx="9647284" cy="10514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5" name="Content Placeholder 3"/>
          <p:cNvSpPr>
            <a:spLocks noGrp="1"/>
          </p:cNvSpPr>
          <p:nvPr>
            <p:ph sz="quarter" idx="25" hasCustomPrompt="1"/>
          </p:nvPr>
        </p:nvSpPr>
        <p:spPr>
          <a:xfrm>
            <a:off x="21764940" y="17081499"/>
            <a:ext cx="9647284" cy="10514013"/>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b="0">
                <a:latin typeface="+mj-lt"/>
              </a:defRPr>
            </a:lvl1pPr>
            <a:lvl2pPr>
              <a:defRPr sz="5399" b="1">
                <a:latin typeface="+mj-lt"/>
              </a:defRPr>
            </a:lvl2pPr>
            <a:lvl3pPr>
              <a:defRPr sz="4800" b="1">
                <a:latin typeface="+mj-lt"/>
              </a:defRPr>
            </a:lvl3pPr>
            <a:lvl4pPr>
              <a:defRPr sz="2400"/>
            </a:lvl4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5" name="Rectangle 34">
            <a:extLst>
              <a:ext uri="{C183D7F6-B498-43B3-948B-1728B52AA6E4}">
                <adec:decorative xmlns:adec="http://schemas.microsoft.com/office/drawing/2017/decorative" val="1"/>
              </a:ext>
            </a:extLst>
          </p:cNvPr>
          <p:cNvSpPr/>
          <p:nvPr/>
        </p:nvSpPr>
        <p:spPr>
          <a:xfrm>
            <a:off x="32134764" y="5857200"/>
            <a:ext cx="9647284" cy="488548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6" name="Content Placeholder 3"/>
          <p:cNvSpPr>
            <a:spLocks noGrp="1"/>
          </p:cNvSpPr>
          <p:nvPr>
            <p:ph sz="quarter" idx="22" hasCustomPrompt="1"/>
          </p:nvPr>
        </p:nvSpPr>
        <p:spPr>
          <a:xfrm>
            <a:off x="32134764" y="5857200"/>
            <a:ext cx="9647284" cy="488548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7" name="Rectangle 36">
            <a:extLst>
              <a:ext uri="{C183D7F6-B498-43B3-948B-1728B52AA6E4}">
                <adec:decorative xmlns:adec="http://schemas.microsoft.com/office/drawing/2017/decorative" val="1"/>
              </a:ext>
            </a:extLst>
          </p:cNvPr>
          <p:cNvSpPr/>
          <p:nvPr/>
        </p:nvSpPr>
        <p:spPr>
          <a:xfrm>
            <a:off x="32134764" y="11478368"/>
            <a:ext cx="9647284" cy="76922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8" name="Content Placeholder 3"/>
          <p:cNvSpPr>
            <a:spLocks noGrp="1"/>
          </p:cNvSpPr>
          <p:nvPr>
            <p:ph sz="quarter" idx="23" hasCustomPrompt="1"/>
          </p:nvPr>
        </p:nvSpPr>
        <p:spPr>
          <a:xfrm>
            <a:off x="32134764" y="11478368"/>
            <a:ext cx="9647284" cy="769228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39" name="Rectangle 38">
            <a:extLst>
              <a:ext uri="{C183D7F6-B498-43B3-948B-1728B52AA6E4}">
                <adec:decorative xmlns:adec="http://schemas.microsoft.com/office/drawing/2017/decorative" val="1"/>
              </a:ext>
            </a:extLst>
          </p:cNvPr>
          <p:cNvSpPr/>
          <p:nvPr/>
        </p:nvSpPr>
        <p:spPr>
          <a:xfrm>
            <a:off x="32134764" y="19879943"/>
            <a:ext cx="9647284" cy="77155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0" name="Content Placeholder 3"/>
          <p:cNvSpPr>
            <a:spLocks noGrp="1"/>
          </p:cNvSpPr>
          <p:nvPr>
            <p:ph sz="quarter" idx="24" hasCustomPrompt="1"/>
          </p:nvPr>
        </p:nvSpPr>
        <p:spPr>
          <a:xfrm>
            <a:off x="32134764" y="19879943"/>
            <a:ext cx="9647284" cy="7715569"/>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GB" dirty="0"/>
          </a:p>
        </p:txBody>
      </p:sp>
      <p:sp>
        <p:nvSpPr>
          <p:cNvPr id="15"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bg1"/>
                </a:solidFill>
              </a:defRPr>
            </a:lvl1pPr>
          </a:lstStyle>
          <a:p>
            <a:pPr lvl="0"/>
            <a:r>
              <a:rPr lang="en-US" dirty="0"/>
              <a:t>Add contact details here</a:t>
            </a:r>
            <a:endParaRPr lang="en-GB" dirty="0"/>
          </a:p>
        </p:txBody>
      </p:sp>
      <p:sp>
        <p:nvSpPr>
          <p:cNvPr id="17"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bg1"/>
                </a:solidFill>
              </a:defRPr>
            </a:lvl1pPr>
          </a:lstStyle>
          <a:p>
            <a:pPr lvl="0"/>
            <a:r>
              <a:rPr lang="en-US" dirty="0"/>
              <a:t>Add collaborator logos here</a:t>
            </a:r>
          </a:p>
        </p:txBody>
      </p:sp>
    </p:spTree>
    <p:extLst>
      <p:ext uri="{BB962C8B-B14F-4D97-AF65-F5344CB8AC3E}">
        <p14:creationId xmlns:p14="http://schemas.microsoft.com/office/powerpoint/2010/main" val="301951768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9" pos="6722">
          <p15:clr>
            <a:srgbClr val="FBAE40"/>
          </p15:clr>
        </p15:guide>
        <p15:guide id="41" pos="7176">
          <p15:clr>
            <a:srgbClr val="FBAE40"/>
          </p15:clr>
        </p15:guide>
        <p15:guide id="45" pos="19785">
          <p15:clr>
            <a:srgbClr val="FBAE40"/>
          </p15:clr>
        </p15:guide>
        <p15:guide id="46" pos="20239">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0 Landscape Poster -  3 columns, 13 boxes">
    <p:spTree>
      <p:nvGrpSpPr>
        <p:cNvPr id="1" name=""/>
        <p:cNvGrpSpPr/>
        <p:nvPr/>
      </p:nvGrpSpPr>
      <p:grpSpPr>
        <a:xfrm>
          <a:off x="0" y="0"/>
          <a:ext cx="0" cy="0"/>
          <a:chOff x="0" y="0"/>
          <a:chExt cx="0" cy="0"/>
        </a:xfrm>
      </p:grpSpPr>
      <p:sp>
        <p:nvSpPr>
          <p:cNvPr id="10" name="Title 1"/>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bg1"/>
                </a:solidFill>
              </a:defRPr>
            </a:lvl1pPr>
          </a:lstStyle>
          <a:p>
            <a:r>
              <a:rPr lang="en-US" dirty="0"/>
              <a:t>Click to add title – Arial bold 72pt</a:t>
            </a:r>
            <a:endParaRPr lang="en-GB" dirty="0"/>
          </a:p>
        </p:txBody>
      </p:sp>
      <p:sp>
        <p:nvSpPr>
          <p:cNvPr id="11"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indent="0">
              <a:buNone/>
              <a:defRPr sz="4800" b="1" baseline="0">
                <a:solidFill>
                  <a:schemeClr val="bg1"/>
                </a:solidFill>
                <a:latin typeface="+mj-lt"/>
              </a:defRPr>
            </a:lvl1pPr>
          </a:lstStyle>
          <a:p>
            <a:pPr lvl="0"/>
            <a:r>
              <a:rPr lang="en-US" dirty="0"/>
              <a:t>Click to add authors – Arial bold 48pt</a:t>
            </a:r>
          </a:p>
        </p:txBody>
      </p:sp>
      <p:sp>
        <p:nvSpPr>
          <p:cNvPr id="13" name="Text Placeholder 7"/>
          <p:cNvSpPr>
            <a:spLocks noGrp="1"/>
          </p:cNvSpPr>
          <p:nvPr>
            <p:ph type="body" sz="quarter" idx="11" hasCustomPrompt="1"/>
          </p:nvPr>
        </p:nvSpPr>
        <p:spPr>
          <a:xfrm>
            <a:off x="1058785" y="4074786"/>
            <a:ext cx="35504166" cy="480131"/>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2800" b="1">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t>
            </a:r>
            <a:r>
              <a:rPr lang="en-US" dirty="0" err="1"/>
              <a:t>affilliations</a:t>
            </a:r>
            <a:r>
              <a:rPr lang="en-US" dirty="0"/>
              <a:t> – Arial bold 28pt</a:t>
            </a:r>
            <a:endParaRPr lang="en-GB" dirty="0"/>
          </a:p>
        </p:txBody>
      </p:sp>
      <p:sp>
        <p:nvSpPr>
          <p:cNvPr id="1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bg1"/>
                </a:solidFill>
              </a:defRPr>
            </a:lvl1pPr>
            <a:lvl2pPr>
              <a:defRPr sz="4294"/>
            </a:lvl2pPr>
            <a:lvl3pPr>
              <a:defRPr sz="3816"/>
            </a:lvl3pPr>
            <a:lvl4pPr>
              <a:defRPr sz="3180"/>
            </a:lvl4pPr>
            <a:lvl5pPr>
              <a:defRPr sz="3180"/>
            </a:lvl5pPr>
          </a:lstStyle>
          <a:p>
            <a:pPr lvl="0"/>
            <a:r>
              <a:rPr lang="en-GB" dirty="0"/>
              <a:t>Keep this area clear</a:t>
            </a:r>
          </a:p>
        </p:txBody>
      </p:sp>
      <p:sp>
        <p:nvSpPr>
          <p:cNvPr id="20" name="Rectangle 19">
            <a:extLst>
              <a:ext uri="{C183D7F6-B498-43B3-948B-1728B52AA6E4}">
                <adec:decorative xmlns:adec="http://schemas.microsoft.com/office/drawing/2017/decorative" val="1"/>
              </a:ext>
            </a:extLst>
          </p:cNvPr>
          <p:cNvSpPr/>
          <p:nvPr/>
        </p:nvSpPr>
        <p:spPr>
          <a:xfrm>
            <a:off x="1022400" y="5857200"/>
            <a:ext cx="13104763" cy="1047425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1" name="Content Placeholder 2"/>
          <p:cNvSpPr>
            <a:spLocks noGrp="1"/>
          </p:cNvSpPr>
          <p:nvPr>
            <p:ph sz="quarter" idx="18" hasCustomPrompt="1"/>
          </p:nvPr>
        </p:nvSpPr>
        <p:spPr>
          <a:xfrm>
            <a:off x="1022400" y="5857200"/>
            <a:ext cx="13104763" cy="1047425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4" name="Rectangle 3">
            <a:extLst>
              <a:ext uri="{C183D7F6-B498-43B3-948B-1728B52AA6E4}">
                <adec:decorative xmlns:adec="http://schemas.microsoft.com/office/drawing/2017/decorative" val="1"/>
              </a:ext>
            </a:extLst>
          </p:cNvPr>
          <p:cNvSpPr/>
          <p:nvPr/>
        </p:nvSpPr>
        <p:spPr>
          <a:xfrm>
            <a:off x="1022400" y="17077765"/>
            <a:ext cx="6192788" cy="104993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6" name="Content Placeholder 2"/>
          <p:cNvSpPr>
            <a:spLocks noGrp="1"/>
          </p:cNvSpPr>
          <p:nvPr>
            <p:ph sz="quarter" idx="22" hasCustomPrompt="1"/>
          </p:nvPr>
        </p:nvSpPr>
        <p:spPr>
          <a:xfrm>
            <a:off x="1022400" y="17078609"/>
            <a:ext cx="6192788" cy="10498533"/>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7" name="Rectangle 26">
            <a:extLst>
              <a:ext uri="{C183D7F6-B498-43B3-948B-1728B52AA6E4}">
                <adec:decorative xmlns:adec="http://schemas.microsoft.com/office/drawing/2017/decorative" val="1"/>
              </a:ext>
            </a:extLst>
          </p:cNvPr>
          <p:cNvSpPr/>
          <p:nvPr/>
        </p:nvSpPr>
        <p:spPr>
          <a:xfrm>
            <a:off x="7945349" y="17076920"/>
            <a:ext cx="6181814" cy="1050022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0" name="Content Placeholder 2"/>
          <p:cNvSpPr>
            <a:spLocks noGrp="1"/>
          </p:cNvSpPr>
          <p:nvPr>
            <p:ph sz="quarter" idx="23" hasCustomPrompt="1"/>
          </p:nvPr>
        </p:nvSpPr>
        <p:spPr>
          <a:xfrm>
            <a:off x="7945349" y="17077765"/>
            <a:ext cx="6181814" cy="10499378"/>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8" name="Rectangle 17">
            <a:extLst>
              <a:ext uri="{C183D7F6-B498-43B3-948B-1728B52AA6E4}">
                <adec:decorative xmlns:adec="http://schemas.microsoft.com/office/drawing/2017/decorative" val="1"/>
              </a:ext>
            </a:extLst>
          </p:cNvPr>
          <p:cNvSpPr/>
          <p:nvPr/>
        </p:nvSpPr>
        <p:spPr>
          <a:xfrm>
            <a:off x="14861102" y="5857200"/>
            <a:ext cx="13090778" cy="76942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12" name="Content Placeholder 2"/>
          <p:cNvSpPr>
            <a:spLocks noGrp="1"/>
          </p:cNvSpPr>
          <p:nvPr>
            <p:ph sz="quarter" idx="16" hasCustomPrompt="1"/>
          </p:nvPr>
        </p:nvSpPr>
        <p:spPr>
          <a:xfrm>
            <a:off x="14861102" y="5857200"/>
            <a:ext cx="13090778" cy="7700035"/>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1604660" indent="0" algn="l" defTabSz="3209320" rtl="0" eaLnBrk="1" latinLnBrk="0" hangingPunct="1">
              <a:lnSpc>
                <a:spcPct val="90000"/>
              </a:lnSpc>
              <a:buFont typeface="Arial" panose="020B0604020202020204" pitchFamily="34" charset="0"/>
              <a:buNone/>
              <a:defRPr lang="en-US" sz="4000" b="1" kern="1200" dirty="0" smtClean="0">
                <a:solidFill>
                  <a:schemeClr val="tx1"/>
                </a:solidFill>
                <a:latin typeface="+mj-lt"/>
                <a:ea typeface="+mn-ea"/>
                <a:cs typeface="+mn-cs"/>
              </a:defRPr>
            </a:lvl2pPr>
            <a:lvl3pPr marL="3209320" indent="0" algn="l" defTabSz="3209320" rtl="0" eaLnBrk="1" latinLnBrk="0" hangingPunct="1">
              <a:lnSpc>
                <a:spcPct val="90000"/>
              </a:lnSpc>
              <a:buFont typeface="Arial" panose="020B0604020202020204" pitchFamily="34" charset="0"/>
              <a:buNone/>
              <a:defRPr lang="en-US" sz="2400" b="0" kern="1200" dirty="0" smtClean="0">
                <a:solidFill>
                  <a:schemeClr val="tx1"/>
                </a:solidFill>
                <a:latin typeface="+mj-lt"/>
                <a:ea typeface="+mn-ea"/>
                <a:cs typeface="+mn-cs"/>
              </a:defRPr>
            </a:lvl3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43" name="Rectangle 42">
            <a:extLst>
              <a:ext uri="{C183D7F6-B498-43B3-948B-1728B52AA6E4}">
                <adec:decorative xmlns:adec="http://schemas.microsoft.com/office/drawing/2017/decorative" val="1"/>
              </a:ext>
            </a:extLst>
          </p:cNvPr>
          <p:cNvSpPr/>
          <p:nvPr/>
        </p:nvSpPr>
        <p:spPr>
          <a:xfrm>
            <a:off x="14861102" y="14273214"/>
            <a:ext cx="13104000" cy="1330449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4" name="Content Placeholder 2"/>
          <p:cNvSpPr>
            <a:spLocks noGrp="1"/>
          </p:cNvSpPr>
          <p:nvPr>
            <p:ph sz="quarter" idx="30" hasCustomPrompt="1"/>
          </p:nvPr>
        </p:nvSpPr>
        <p:spPr>
          <a:xfrm>
            <a:off x="14861102" y="14273213"/>
            <a:ext cx="13104000" cy="1330449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1604660" indent="0" algn="l" defTabSz="3209320" rtl="0" eaLnBrk="1" latinLnBrk="0" hangingPunct="1">
              <a:lnSpc>
                <a:spcPct val="90000"/>
              </a:lnSpc>
              <a:buFont typeface="Arial" panose="020B0604020202020204" pitchFamily="34" charset="0"/>
              <a:buNone/>
              <a:defRPr lang="en-US" sz="4000" b="1" kern="1200" dirty="0" smtClean="0">
                <a:solidFill>
                  <a:schemeClr val="tx1"/>
                </a:solidFill>
                <a:latin typeface="+mj-lt"/>
                <a:ea typeface="+mn-ea"/>
                <a:cs typeface="+mn-cs"/>
              </a:defRPr>
            </a:lvl2pPr>
            <a:lvl3pPr marL="3209320" indent="0" algn="l" defTabSz="3209320" rtl="0" eaLnBrk="1" latinLnBrk="0" hangingPunct="1">
              <a:lnSpc>
                <a:spcPct val="90000"/>
              </a:lnSpc>
              <a:buFont typeface="Arial" panose="020B0604020202020204" pitchFamily="34" charset="0"/>
              <a:buNone/>
              <a:defRPr lang="en-US" sz="2400" b="0" kern="1200" dirty="0" smtClean="0">
                <a:solidFill>
                  <a:schemeClr val="tx1"/>
                </a:solidFill>
                <a:latin typeface="+mj-lt"/>
                <a:ea typeface="+mn-ea"/>
                <a:cs typeface="+mn-cs"/>
              </a:defRPr>
            </a:lvl3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1" name="Rectangle 30">
            <a:extLst>
              <a:ext uri="{C183D7F6-B498-43B3-948B-1728B52AA6E4}">
                <adec:decorative xmlns:adec="http://schemas.microsoft.com/office/drawing/2017/decorative" val="1"/>
              </a:ext>
            </a:extLst>
          </p:cNvPr>
          <p:cNvSpPr/>
          <p:nvPr/>
        </p:nvSpPr>
        <p:spPr>
          <a:xfrm>
            <a:off x="28689442" y="5857200"/>
            <a:ext cx="6176821" cy="77000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2" name="Content Placeholder 2"/>
          <p:cNvSpPr>
            <a:spLocks noGrp="1"/>
          </p:cNvSpPr>
          <p:nvPr>
            <p:ph sz="quarter" idx="24" hasCustomPrompt="1"/>
          </p:nvPr>
        </p:nvSpPr>
        <p:spPr>
          <a:xfrm>
            <a:off x="28689442" y="5857200"/>
            <a:ext cx="6176821" cy="7699415"/>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3" name="Rectangle 32">
            <a:extLst>
              <a:ext uri="{C183D7F6-B498-43B3-948B-1728B52AA6E4}">
                <adec:decorative xmlns:adec="http://schemas.microsoft.com/office/drawing/2017/decorative" val="1"/>
              </a:ext>
            </a:extLst>
          </p:cNvPr>
          <p:cNvSpPr/>
          <p:nvPr/>
        </p:nvSpPr>
        <p:spPr>
          <a:xfrm>
            <a:off x="35603825" y="5857200"/>
            <a:ext cx="6177600" cy="77000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4" name="Content Placeholder 2"/>
          <p:cNvSpPr>
            <a:spLocks noGrp="1"/>
          </p:cNvSpPr>
          <p:nvPr>
            <p:ph sz="quarter" idx="25" hasCustomPrompt="1"/>
          </p:nvPr>
        </p:nvSpPr>
        <p:spPr>
          <a:xfrm>
            <a:off x="35603825" y="5857200"/>
            <a:ext cx="6177600" cy="7699415"/>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5" name="Rectangle 34">
            <a:extLst>
              <a:ext uri="{C183D7F6-B498-43B3-948B-1728B52AA6E4}">
                <adec:decorative xmlns:adec="http://schemas.microsoft.com/office/drawing/2017/decorative" val="1"/>
              </a:ext>
            </a:extLst>
          </p:cNvPr>
          <p:cNvSpPr/>
          <p:nvPr/>
        </p:nvSpPr>
        <p:spPr>
          <a:xfrm>
            <a:off x="28689442" y="14273190"/>
            <a:ext cx="6176821" cy="489566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6" name="Content Placeholder 2"/>
          <p:cNvSpPr>
            <a:spLocks noGrp="1"/>
          </p:cNvSpPr>
          <p:nvPr>
            <p:ph sz="quarter" idx="26" hasCustomPrompt="1"/>
          </p:nvPr>
        </p:nvSpPr>
        <p:spPr>
          <a:xfrm>
            <a:off x="28689442" y="14273190"/>
            <a:ext cx="6176821" cy="4895669"/>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37" name="Rectangle 36">
            <a:extLst>
              <a:ext uri="{C183D7F6-B498-43B3-948B-1728B52AA6E4}">
                <adec:decorative xmlns:adec="http://schemas.microsoft.com/office/drawing/2017/decorative" val="1"/>
              </a:ext>
            </a:extLst>
          </p:cNvPr>
          <p:cNvSpPr/>
          <p:nvPr/>
        </p:nvSpPr>
        <p:spPr>
          <a:xfrm>
            <a:off x="35603825" y="14273219"/>
            <a:ext cx="6177600" cy="489743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38" name="Content Placeholder 2"/>
          <p:cNvSpPr>
            <a:spLocks noGrp="1"/>
          </p:cNvSpPr>
          <p:nvPr>
            <p:ph sz="quarter" idx="27" hasCustomPrompt="1"/>
          </p:nvPr>
        </p:nvSpPr>
        <p:spPr>
          <a:xfrm>
            <a:off x="35603825" y="14273213"/>
            <a:ext cx="6177600" cy="4897037"/>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US" dirty="0"/>
          </a:p>
        </p:txBody>
      </p:sp>
      <p:sp>
        <p:nvSpPr>
          <p:cNvPr id="39" name="Rectangle 38">
            <a:extLst>
              <a:ext uri="{C183D7F6-B498-43B3-948B-1728B52AA6E4}">
                <adec:decorative xmlns:adec="http://schemas.microsoft.com/office/drawing/2017/decorative" val="1"/>
              </a:ext>
            </a:extLst>
          </p:cNvPr>
          <p:cNvSpPr/>
          <p:nvPr/>
        </p:nvSpPr>
        <p:spPr>
          <a:xfrm>
            <a:off x="28689442" y="19905965"/>
            <a:ext cx="6176821" cy="4881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0" name="Content Placeholder 2"/>
          <p:cNvSpPr>
            <a:spLocks noGrp="1"/>
          </p:cNvSpPr>
          <p:nvPr>
            <p:ph sz="quarter" idx="28" hasCustomPrompt="1"/>
          </p:nvPr>
        </p:nvSpPr>
        <p:spPr>
          <a:xfrm>
            <a:off x="28689442" y="19905964"/>
            <a:ext cx="6176821" cy="488126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41" name="Rectangle 40">
            <a:extLst>
              <a:ext uri="{C183D7F6-B498-43B3-948B-1728B52AA6E4}">
                <adec:decorative xmlns:adec="http://schemas.microsoft.com/office/drawing/2017/decorative" val="1"/>
              </a:ext>
            </a:extLst>
          </p:cNvPr>
          <p:cNvSpPr/>
          <p:nvPr/>
        </p:nvSpPr>
        <p:spPr>
          <a:xfrm>
            <a:off x="35603825" y="19905965"/>
            <a:ext cx="6177600" cy="4881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42" name="Content Placeholder 2"/>
          <p:cNvSpPr>
            <a:spLocks noGrp="1"/>
          </p:cNvSpPr>
          <p:nvPr>
            <p:ph sz="quarter" idx="29" hasCustomPrompt="1"/>
          </p:nvPr>
        </p:nvSpPr>
        <p:spPr>
          <a:xfrm>
            <a:off x="35603825" y="19905964"/>
            <a:ext cx="6177600" cy="488126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8" name="Rectangle 27">
            <a:extLst>
              <a:ext uri="{C183D7F6-B498-43B3-948B-1728B52AA6E4}">
                <adec:decorative xmlns:adec="http://schemas.microsoft.com/office/drawing/2017/decorative" val="1"/>
              </a:ext>
            </a:extLst>
          </p:cNvPr>
          <p:cNvSpPr/>
          <p:nvPr/>
        </p:nvSpPr>
        <p:spPr>
          <a:xfrm>
            <a:off x="28689442" y="25505739"/>
            <a:ext cx="13088796" cy="20714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sp>
        <p:nvSpPr>
          <p:cNvPr id="29" name="Content Placeholder 2"/>
          <p:cNvSpPr>
            <a:spLocks noGrp="1"/>
          </p:cNvSpPr>
          <p:nvPr>
            <p:ph sz="quarter" idx="21" hasCustomPrompt="1"/>
          </p:nvPr>
        </p:nvSpPr>
        <p:spPr>
          <a:xfrm>
            <a:off x="28689442" y="25506363"/>
            <a:ext cx="13088796" cy="2070780"/>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lang="en-US" sz="4000" b="0" kern="1200" dirty="0" smtClean="0">
                <a:solidFill>
                  <a:schemeClr val="tx1"/>
                </a:solidFill>
                <a:latin typeface="+mj-lt"/>
                <a:ea typeface="+mn-ea"/>
                <a:cs typeface="+mn-cs"/>
              </a:defRPr>
            </a:lvl1pPr>
            <a:lvl2pPr marL="2406990" indent="-802331" algn="l" defTabSz="3209320" rtl="0" eaLnBrk="1" latinLnBrk="0" hangingPunct="1">
              <a:lnSpc>
                <a:spcPct val="90000"/>
              </a:lnSpc>
              <a:buFont typeface="Arial" panose="020B0604020202020204" pitchFamily="34" charset="0"/>
              <a:buChar char="•"/>
              <a:defRPr lang="en-US" sz="4000" b="1" kern="1200" dirty="0" smtClean="0">
                <a:solidFill>
                  <a:schemeClr val="tx1"/>
                </a:solidFill>
                <a:latin typeface="+mj-lt"/>
                <a:ea typeface="+mn-ea"/>
                <a:cs typeface="+mn-cs"/>
              </a:defRPr>
            </a:lvl2pPr>
            <a:lvl3pPr marL="4011651" indent="-802331" algn="l" defTabSz="3209320" rtl="0" eaLnBrk="1" latinLnBrk="0" hangingPunct="1">
              <a:lnSpc>
                <a:spcPct val="90000"/>
              </a:lnSpc>
              <a:buFont typeface="Arial" panose="020B0604020202020204" pitchFamily="34" charset="0"/>
              <a:buChar char="•"/>
              <a:defRPr lang="en-US" sz="2400" b="0" kern="1200" dirty="0" smtClean="0">
                <a:solidFill>
                  <a:schemeClr val="tx1"/>
                </a:solidFill>
                <a:latin typeface="+mn-lt"/>
                <a:ea typeface="+mn-ea"/>
                <a:cs typeface="+mn-cs"/>
              </a:defRPr>
            </a:lvl3pPr>
            <a:lvl4pPr marL="5616311" indent="-802331" algn="l" defTabSz="3209320" rtl="0" eaLnBrk="1" latinLnBrk="0" hangingPunct="1">
              <a:lnSpc>
                <a:spcPct val="90000"/>
              </a:lnSpc>
              <a:buFont typeface="Arial" panose="020B0604020202020204" pitchFamily="34" charset="0"/>
              <a:buChar char="•"/>
              <a:defRPr lang="en-US" sz="4800" b="1" kern="1200" dirty="0" smtClean="0">
                <a:solidFill>
                  <a:schemeClr val="tx1"/>
                </a:solidFill>
                <a:latin typeface="+mj-lt"/>
                <a:ea typeface="+mn-ea"/>
                <a:cs typeface="+mn-cs"/>
              </a:defRPr>
            </a:lvl4pPr>
            <a:lvl5pPr marL="7220972" indent="-802331" algn="l" defTabSz="3209320" rtl="0" eaLnBrk="1" latinLnBrk="0" hangingPunct="1">
              <a:lnSpc>
                <a:spcPct val="90000"/>
              </a:lnSpc>
              <a:buFont typeface="Arial" panose="020B0604020202020204" pitchFamily="34" charset="0"/>
              <a:buChar char="•"/>
              <a:defRPr lang="en-GB" sz="4800" b="1" kern="1200" dirty="0" smtClean="0">
                <a:solidFill>
                  <a:schemeClr val="tx1"/>
                </a:solidFill>
                <a:latin typeface="+mj-lt"/>
                <a:ea typeface="+mn-ea"/>
                <a:cs typeface="+mn-cs"/>
              </a:defRPr>
            </a:lvl5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a:p>
            <a:pPr lvl="0"/>
            <a:endParaRPr lang="en-US" dirty="0"/>
          </a:p>
        </p:txBody>
      </p:sp>
      <p:sp>
        <p:nvSpPr>
          <p:cNvPr id="15"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bg1"/>
                </a:solidFill>
              </a:defRPr>
            </a:lvl1pPr>
          </a:lstStyle>
          <a:p>
            <a:pPr lvl="0"/>
            <a:r>
              <a:rPr lang="en-US" dirty="0"/>
              <a:t>Add contact details here</a:t>
            </a:r>
            <a:endParaRPr lang="en-GB" dirty="0"/>
          </a:p>
        </p:txBody>
      </p:sp>
      <p:sp>
        <p:nvSpPr>
          <p:cNvPr id="17"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00" baseline="0">
                <a:solidFill>
                  <a:schemeClr val="bg1"/>
                </a:solidFill>
              </a:defRPr>
            </a:lvl1pPr>
          </a:lstStyle>
          <a:p>
            <a:pPr lvl="0"/>
            <a:r>
              <a:rPr lang="en-US" dirty="0"/>
              <a:t>Add collaborator logos here</a:t>
            </a:r>
          </a:p>
        </p:txBody>
      </p:sp>
    </p:spTree>
    <p:extLst>
      <p:ext uri="{BB962C8B-B14F-4D97-AF65-F5344CB8AC3E}">
        <p14:creationId xmlns:p14="http://schemas.microsoft.com/office/powerpoint/2010/main" val="35718456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8" orient="horz" pos="3689">
          <p15:clr>
            <a:srgbClr val="FBAE40"/>
          </p15:clr>
        </p15:guide>
        <p15:guide id="39" orient="horz" pos="18245">
          <p15:clr>
            <a:srgbClr val="FBAE40"/>
          </p15:clr>
        </p15:guide>
        <p15:guide id="41" pos="18062">
          <p15:clr>
            <a:srgbClr val="FBAE40"/>
          </p15:clr>
        </p15:guide>
        <p15:guide id="42" pos="17608">
          <p15:clr>
            <a:srgbClr val="FBAE40"/>
          </p15:clr>
        </p15:guide>
        <p15:guide id="43" pos="9353">
          <p15:clr>
            <a:srgbClr val="FBAE40"/>
          </p15:clr>
        </p15:guide>
        <p15:guide id="44" pos="8899">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0 Landscape Poster -  3 columns, 11 boxes v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58785" y="919091"/>
            <a:ext cx="40717941" cy="1089401"/>
          </a:xfrm>
          <a:prstGeom prst="rect">
            <a:avLst/>
          </a:prstGeom>
        </p:spPr>
        <p:txBody>
          <a:bodyPr wrap="square" lIns="0">
            <a:spAutoFit/>
          </a:bodyPr>
          <a:lstStyle>
            <a:lvl1pPr>
              <a:defRPr sz="7199" b="1">
                <a:solidFill>
                  <a:schemeClr val="bg1"/>
                </a:solidFill>
              </a:defRPr>
            </a:lvl1pPr>
          </a:lstStyle>
          <a:p>
            <a:r>
              <a:rPr lang="en-US" dirty="0"/>
              <a:t>Click to add title – Arial bold 72pt</a:t>
            </a:r>
            <a:endParaRPr lang="en-GB" dirty="0"/>
          </a:p>
        </p:txBody>
      </p:sp>
      <p:sp>
        <p:nvSpPr>
          <p:cNvPr id="6" name="Text Placeholder 5"/>
          <p:cNvSpPr>
            <a:spLocks noGrp="1"/>
          </p:cNvSpPr>
          <p:nvPr>
            <p:ph type="body" sz="quarter" idx="10" hasCustomPrompt="1"/>
          </p:nvPr>
        </p:nvSpPr>
        <p:spPr>
          <a:xfrm>
            <a:off x="1058786" y="2716524"/>
            <a:ext cx="35504166" cy="757130"/>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baseline="0">
                <a:solidFill>
                  <a:schemeClr val="bg1"/>
                </a:solidFill>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to add authors – Arial bold 48pt</a:t>
            </a:r>
          </a:p>
        </p:txBody>
      </p:sp>
      <p:sp>
        <p:nvSpPr>
          <p:cNvPr id="8" name="Text Placeholder 7"/>
          <p:cNvSpPr>
            <a:spLocks noGrp="1"/>
          </p:cNvSpPr>
          <p:nvPr>
            <p:ph type="body" sz="quarter" idx="11" hasCustomPrompt="1"/>
          </p:nvPr>
        </p:nvSpPr>
        <p:spPr>
          <a:xfrm>
            <a:off x="1058785" y="4074785"/>
            <a:ext cx="35504166" cy="480131"/>
          </a:xfrm>
          <a:prstGeom prst="rect">
            <a:avLst/>
          </a:prstGeom>
        </p:spPr>
        <p:txBody>
          <a:bodyPr wrap="square" lIns="0">
            <a:spAutoFit/>
          </a:bodyPr>
          <a:lstStyle>
            <a:lvl1pPr marL="0" indent="0">
              <a:buNone/>
              <a:defRPr sz="2800" b="1">
                <a:solidFill>
                  <a:schemeClr val="bg1"/>
                </a:solidFill>
                <a:latin typeface="+mj-lt"/>
              </a:defRPr>
            </a:lvl1pPr>
          </a:lstStyle>
          <a:p>
            <a:pPr lvl="0"/>
            <a:r>
              <a:rPr lang="en-US" dirty="0"/>
              <a:t>Click to add </a:t>
            </a:r>
            <a:r>
              <a:rPr lang="en-US" dirty="0" err="1"/>
              <a:t>affilliations</a:t>
            </a:r>
            <a:r>
              <a:rPr lang="en-US" dirty="0"/>
              <a:t> – Arial bold 28pt</a:t>
            </a:r>
            <a:endParaRPr lang="en-GB" dirty="0"/>
          </a:p>
        </p:txBody>
      </p:sp>
      <p:sp>
        <p:nvSpPr>
          <p:cNvPr id="4" name="Text Placeholder 3"/>
          <p:cNvSpPr>
            <a:spLocks noGrp="1"/>
          </p:cNvSpPr>
          <p:nvPr>
            <p:ph type="body" sz="quarter" idx="14" hasCustomPrompt="1"/>
          </p:nvPr>
        </p:nvSpPr>
        <p:spPr>
          <a:xfrm>
            <a:off x="36605035" y="2745635"/>
            <a:ext cx="6191541" cy="2444871"/>
          </a:xfrm>
          <a:prstGeom prst="rect">
            <a:avLst/>
          </a:prstGeom>
          <a:noFill/>
          <a:ln w="41275">
            <a:noFill/>
            <a:prstDash val="sysDash"/>
          </a:ln>
        </p:spPr>
        <p:txBody>
          <a:bodyPr>
            <a:noAutofit/>
          </a:bodyPr>
          <a:lstStyle>
            <a:lvl1pPr marL="0" indent="0">
              <a:buNone/>
              <a:defRPr sz="3816" baseline="0">
                <a:solidFill>
                  <a:schemeClr val="bg1"/>
                </a:solidFill>
              </a:defRPr>
            </a:lvl1pPr>
            <a:lvl2pPr>
              <a:defRPr sz="4294"/>
            </a:lvl2pPr>
            <a:lvl3pPr>
              <a:defRPr sz="3816"/>
            </a:lvl3pPr>
            <a:lvl4pPr>
              <a:defRPr sz="3180"/>
            </a:lvl4pPr>
            <a:lvl5pPr>
              <a:defRPr sz="3180"/>
            </a:lvl5pPr>
          </a:lstStyle>
          <a:p>
            <a:pPr lvl="0"/>
            <a:r>
              <a:rPr lang="en-GB" dirty="0"/>
              <a:t>Keep this area clear</a:t>
            </a:r>
          </a:p>
        </p:txBody>
      </p:sp>
      <p:sp>
        <p:nvSpPr>
          <p:cNvPr id="9" name="Rectangle 8">
            <a:extLst>
              <a:ext uri="{FF2B5EF4-FFF2-40B4-BE49-F238E27FC236}">
                <a16:creationId xmlns:a16="http://schemas.microsoft.com/office/drawing/2014/main" id="{8B43F24F-F0FB-412D-9664-1168B0AE1CEF}"/>
              </a:ext>
              <a:ext uri="{C183D7F6-B498-43B3-948B-1728B52AA6E4}">
                <adec:decorative xmlns:adec="http://schemas.microsoft.com/office/drawing/2017/decorative" val="1"/>
              </a:ext>
            </a:extLst>
          </p:cNvPr>
          <p:cNvSpPr/>
          <p:nvPr/>
        </p:nvSpPr>
        <p:spPr>
          <a:xfrm>
            <a:off x="1020132" y="5859463"/>
            <a:ext cx="17416624" cy="10505579"/>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5" name="Content Placeholder 4">
            <a:extLst>
              <a:ext uri="{FF2B5EF4-FFF2-40B4-BE49-F238E27FC236}">
                <a16:creationId xmlns:a16="http://schemas.microsoft.com/office/drawing/2014/main" id="{53CD4AAC-44F7-4065-A428-4A870F2B2CEF}"/>
              </a:ext>
            </a:extLst>
          </p:cNvPr>
          <p:cNvSpPr>
            <a:spLocks noGrp="1"/>
          </p:cNvSpPr>
          <p:nvPr>
            <p:ph sz="quarter" idx="15" hasCustomPrompt="1"/>
          </p:nvPr>
        </p:nvSpPr>
        <p:spPr>
          <a:xfrm>
            <a:off x="1022351" y="5859786"/>
            <a:ext cx="17415944" cy="1050489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0" name="Rectangle 9">
            <a:extLst>
              <a:ext uri="{FF2B5EF4-FFF2-40B4-BE49-F238E27FC236}">
                <a16:creationId xmlns:a16="http://schemas.microsoft.com/office/drawing/2014/main" id="{1AB46ECE-0E13-4515-9430-332A23640361}"/>
              </a:ext>
              <a:ext uri="{C183D7F6-B498-43B3-948B-1728B52AA6E4}">
                <adec:decorative xmlns:adec="http://schemas.microsoft.com/office/drawing/2017/decorative" val="1"/>
              </a:ext>
            </a:extLst>
          </p:cNvPr>
          <p:cNvSpPr/>
          <p:nvPr/>
        </p:nvSpPr>
        <p:spPr>
          <a:xfrm>
            <a:off x="1020132" y="17104383"/>
            <a:ext cx="9637974" cy="10490400"/>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3" name="Content Placeholder 32">
            <a:extLst>
              <a:ext uri="{FF2B5EF4-FFF2-40B4-BE49-F238E27FC236}">
                <a16:creationId xmlns:a16="http://schemas.microsoft.com/office/drawing/2014/main" id="{6BCD20C3-2203-4639-8AA5-6E0473699AB7}"/>
              </a:ext>
            </a:extLst>
          </p:cNvPr>
          <p:cNvSpPr>
            <a:spLocks noGrp="1"/>
          </p:cNvSpPr>
          <p:nvPr>
            <p:ph sz="quarter" idx="16" hasCustomPrompt="1"/>
          </p:nvPr>
        </p:nvSpPr>
        <p:spPr>
          <a:xfrm>
            <a:off x="1022351" y="17104383"/>
            <a:ext cx="9635332" cy="10490400"/>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1" name="Rectangle 10">
            <a:extLst>
              <a:ext uri="{FF2B5EF4-FFF2-40B4-BE49-F238E27FC236}">
                <a16:creationId xmlns:a16="http://schemas.microsoft.com/office/drawing/2014/main" id="{629FEC58-A4F3-4197-81B4-E6B1FBA9593F}"/>
              </a:ext>
              <a:ext uri="{C183D7F6-B498-43B3-948B-1728B52AA6E4}">
                <adec:decorative xmlns:adec="http://schemas.microsoft.com/office/drawing/2017/decorative" val="1"/>
              </a:ext>
            </a:extLst>
          </p:cNvPr>
          <p:cNvSpPr/>
          <p:nvPr/>
        </p:nvSpPr>
        <p:spPr>
          <a:xfrm>
            <a:off x="11391901" y="17105379"/>
            <a:ext cx="7044858" cy="10489404"/>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5" name="Content Placeholder 34">
            <a:extLst>
              <a:ext uri="{FF2B5EF4-FFF2-40B4-BE49-F238E27FC236}">
                <a16:creationId xmlns:a16="http://schemas.microsoft.com/office/drawing/2014/main" id="{E2C72D6E-B012-4960-AFAF-2935F5655271}"/>
              </a:ext>
            </a:extLst>
          </p:cNvPr>
          <p:cNvSpPr>
            <a:spLocks noGrp="1"/>
          </p:cNvSpPr>
          <p:nvPr>
            <p:ph sz="quarter" idx="17" hasCustomPrompt="1"/>
          </p:nvPr>
        </p:nvSpPr>
        <p:spPr>
          <a:xfrm>
            <a:off x="11390572" y="17103637"/>
            <a:ext cx="7047259" cy="10491146"/>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7" name="Rectangle 16">
            <a:extLst>
              <a:ext uri="{FF2B5EF4-FFF2-40B4-BE49-F238E27FC236}">
                <a16:creationId xmlns:a16="http://schemas.microsoft.com/office/drawing/2014/main" id="{63912914-2747-4DDE-8D76-5195595D4A64}"/>
              </a:ext>
              <a:ext uri="{C183D7F6-B498-43B3-948B-1728B52AA6E4}">
                <adec:decorative xmlns:adec="http://schemas.microsoft.com/office/drawing/2017/decorative" val="1"/>
              </a:ext>
            </a:extLst>
          </p:cNvPr>
          <p:cNvSpPr/>
          <p:nvPr/>
        </p:nvSpPr>
        <p:spPr>
          <a:xfrm>
            <a:off x="19187327" y="5859464"/>
            <a:ext cx="12210169" cy="7696748"/>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6" name="Content Placeholder 35">
            <a:extLst>
              <a:ext uri="{FF2B5EF4-FFF2-40B4-BE49-F238E27FC236}">
                <a16:creationId xmlns:a16="http://schemas.microsoft.com/office/drawing/2014/main" id="{28C20B94-8FCB-4CD3-BA6F-B68019414536}"/>
              </a:ext>
            </a:extLst>
          </p:cNvPr>
          <p:cNvSpPr>
            <a:spLocks noGrp="1"/>
          </p:cNvSpPr>
          <p:nvPr>
            <p:ph sz="quarter" idx="18" hasCustomPrompt="1"/>
          </p:nvPr>
        </p:nvSpPr>
        <p:spPr>
          <a:xfrm>
            <a:off x="19186575" y="5858717"/>
            <a:ext cx="12210169" cy="7695357"/>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9" name="Rectangle 18">
            <a:extLst>
              <a:ext uri="{FF2B5EF4-FFF2-40B4-BE49-F238E27FC236}">
                <a16:creationId xmlns:a16="http://schemas.microsoft.com/office/drawing/2014/main" id="{1BEB6CBD-170B-4F09-B2F0-698A9A96E623}"/>
              </a:ext>
              <a:ext uri="{C183D7F6-B498-43B3-948B-1728B52AA6E4}">
                <adec:decorative xmlns:adec="http://schemas.microsoft.com/office/drawing/2017/decorative" val="1"/>
              </a:ext>
            </a:extLst>
          </p:cNvPr>
          <p:cNvSpPr/>
          <p:nvPr/>
        </p:nvSpPr>
        <p:spPr>
          <a:xfrm>
            <a:off x="19200978" y="14286397"/>
            <a:ext cx="12210169" cy="7692541"/>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7" name="Content Placeholder 36">
            <a:extLst>
              <a:ext uri="{FF2B5EF4-FFF2-40B4-BE49-F238E27FC236}">
                <a16:creationId xmlns:a16="http://schemas.microsoft.com/office/drawing/2014/main" id="{DCBBFD08-AD1E-491B-9C58-47D0A41FB674}"/>
              </a:ext>
            </a:extLst>
          </p:cNvPr>
          <p:cNvSpPr>
            <a:spLocks noGrp="1"/>
          </p:cNvSpPr>
          <p:nvPr>
            <p:ph sz="quarter" idx="19" hasCustomPrompt="1"/>
          </p:nvPr>
        </p:nvSpPr>
        <p:spPr>
          <a:xfrm>
            <a:off x="19200974" y="14285127"/>
            <a:ext cx="12210169" cy="769381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1" name="Rectangle 20">
            <a:extLst>
              <a:ext uri="{FF2B5EF4-FFF2-40B4-BE49-F238E27FC236}">
                <a16:creationId xmlns:a16="http://schemas.microsoft.com/office/drawing/2014/main" id="{F798A082-AC4D-4A8D-9CF2-9430DF1C5F78}"/>
              </a:ext>
              <a:ext uri="{C183D7F6-B498-43B3-948B-1728B52AA6E4}">
                <adec:decorative xmlns:adec="http://schemas.microsoft.com/office/drawing/2017/decorative" val="1"/>
              </a:ext>
            </a:extLst>
          </p:cNvPr>
          <p:cNvSpPr/>
          <p:nvPr/>
        </p:nvSpPr>
        <p:spPr>
          <a:xfrm>
            <a:off x="19200979" y="22703580"/>
            <a:ext cx="12211605" cy="4891203"/>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8" name="Content Placeholder 37">
            <a:extLst>
              <a:ext uri="{FF2B5EF4-FFF2-40B4-BE49-F238E27FC236}">
                <a16:creationId xmlns:a16="http://schemas.microsoft.com/office/drawing/2014/main" id="{69CB0982-D2DA-488C-998B-7DC9B88A3E1C}"/>
              </a:ext>
            </a:extLst>
          </p:cNvPr>
          <p:cNvSpPr>
            <a:spLocks noGrp="1"/>
          </p:cNvSpPr>
          <p:nvPr>
            <p:ph sz="quarter" idx="20" hasCustomPrompt="1"/>
          </p:nvPr>
        </p:nvSpPr>
        <p:spPr>
          <a:xfrm>
            <a:off x="19200976" y="22703644"/>
            <a:ext cx="12210168" cy="4891139"/>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2" name="Rectangle 11">
            <a:extLst>
              <a:ext uri="{FF2B5EF4-FFF2-40B4-BE49-F238E27FC236}">
                <a16:creationId xmlns:a16="http://schemas.microsoft.com/office/drawing/2014/main" id="{DE17EA3D-1D97-402B-951A-07B65353F3E1}"/>
              </a:ext>
              <a:ext uri="{C183D7F6-B498-43B3-948B-1728B52AA6E4}">
                <adec:decorative xmlns:adec="http://schemas.microsoft.com/office/drawing/2017/decorative" val="1"/>
              </a:ext>
            </a:extLst>
          </p:cNvPr>
          <p:cNvSpPr/>
          <p:nvPr/>
        </p:nvSpPr>
        <p:spPr>
          <a:xfrm>
            <a:off x="32133600" y="5857200"/>
            <a:ext cx="9643126" cy="10505579"/>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39" name="Content Placeholder 38">
            <a:extLst>
              <a:ext uri="{FF2B5EF4-FFF2-40B4-BE49-F238E27FC236}">
                <a16:creationId xmlns:a16="http://schemas.microsoft.com/office/drawing/2014/main" id="{E3800366-A01C-4055-B3B8-37E3F51B2C3D}"/>
              </a:ext>
            </a:extLst>
          </p:cNvPr>
          <p:cNvSpPr>
            <a:spLocks noGrp="1"/>
          </p:cNvSpPr>
          <p:nvPr>
            <p:ph sz="quarter" idx="21" hasCustomPrompt="1"/>
          </p:nvPr>
        </p:nvSpPr>
        <p:spPr>
          <a:xfrm>
            <a:off x="32131986" y="5858717"/>
            <a:ext cx="9646252" cy="10503646"/>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0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3" name="Rectangle 12">
            <a:extLst>
              <a:ext uri="{FF2B5EF4-FFF2-40B4-BE49-F238E27FC236}">
                <a16:creationId xmlns:a16="http://schemas.microsoft.com/office/drawing/2014/main" id="{8DBB5D15-5B0D-4AD2-A799-ADC5BDBD177B}"/>
              </a:ext>
              <a:ext uri="{C183D7F6-B498-43B3-948B-1728B52AA6E4}">
                <adec:decorative xmlns:adec="http://schemas.microsoft.com/office/drawing/2017/decorative" val="1"/>
              </a:ext>
            </a:extLst>
          </p:cNvPr>
          <p:cNvSpPr/>
          <p:nvPr/>
        </p:nvSpPr>
        <p:spPr>
          <a:xfrm>
            <a:off x="32147841" y="17095791"/>
            <a:ext cx="4458885" cy="4883015"/>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0" name="Content Placeholder 39">
            <a:extLst>
              <a:ext uri="{FF2B5EF4-FFF2-40B4-BE49-F238E27FC236}">
                <a16:creationId xmlns:a16="http://schemas.microsoft.com/office/drawing/2014/main" id="{E8B00910-BAB4-498C-B8BA-9E5D259C2CDD}"/>
              </a:ext>
            </a:extLst>
          </p:cNvPr>
          <p:cNvSpPr>
            <a:spLocks noGrp="1"/>
          </p:cNvSpPr>
          <p:nvPr>
            <p:ph sz="quarter" idx="22" hasCustomPrompt="1"/>
          </p:nvPr>
        </p:nvSpPr>
        <p:spPr>
          <a:xfrm>
            <a:off x="32147841" y="17095987"/>
            <a:ext cx="4460069" cy="4882951"/>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32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6" name="Rectangle 15">
            <a:extLst>
              <a:ext uri="{FF2B5EF4-FFF2-40B4-BE49-F238E27FC236}">
                <a16:creationId xmlns:a16="http://schemas.microsoft.com/office/drawing/2014/main" id="{BBD276F9-89C3-4113-840D-B73A8EC65C36}"/>
              </a:ext>
              <a:ext uri="{C183D7F6-B498-43B3-948B-1728B52AA6E4}">
                <adec:decorative xmlns:adec="http://schemas.microsoft.com/office/drawing/2017/decorative" val="1"/>
              </a:ext>
            </a:extLst>
          </p:cNvPr>
          <p:cNvSpPr/>
          <p:nvPr/>
        </p:nvSpPr>
        <p:spPr>
          <a:xfrm>
            <a:off x="37341983" y="17095792"/>
            <a:ext cx="4436255" cy="4883146"/>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1" name="Content Placeholder 40">
            <a:extLst>
              <a:ext uri="{FF2B5EF4-FFF2-40B4-BE49-F238E27FC236}">
                <a16:creationId xmlns:a16="http://schemas.microsoft.com/office/drawing/2014/main" id="{13F1650C-45E1-44EE-9057-F0205C66164C}"/>
              </a:ext>
            </a:extLst>
          </p:cNvPr>
          <p:cNvSpPr>
            <a:spLocks noGrp="1"/>
          </p:cNvSpPr>
          <p:nvPr>
            <p:ph sz="quarter" idx="23" hasCustomPrompt="1"/>
          </p:nvPr>
        </p:nvSpPr>
        <p:spPr>
          <a:xfrm>
            <a:off x="37340799" y="17095987"/>
            <a:ext cx="4435927" cy="4883082"/>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32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4" name="Rectangle 13">
            <a:extLst>
              <a:ext uri="{FF2B5EF4-FFF2-40B4-BE49-F238E27FC236}">
                <a16:creationId xmlns:a16="http://schemas.microsoft.com/office/drawing/2014/main" id="{36E3DF8E-C4AE-42AE-9D54-DAF4F3D3BE66}"/>
              </a:ext>
              <a:ext uri="{C183D7F6-B498-43B3-948B-1728B52AA6E4}">
                <adec:decorative xmlns:adec="http://schemas.microsoft.com/office/drawing/2017/decorative" val="1"/>
              </a:ext>
            </a:extLst>
          </p:cNvPr>
          <p:cNvSpPr/>
          <p:nvPr/>
        </p:nvSpPr>
        <p:spPr>
          <a:xfrm>
            <a:off x="32147841" y="22713183"/>
            <a:ext cx="4458885" cy="4881600"/>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2" name="Content Placeholder 41">
            <a:extLst>
              <a:ext uri="{FF2B5EF4-FFF2-40B4-BE49-F238E27FC236}">
                <a16:creationId xmlns:a16="http://schemas.microsoft.com/office/drawing/2014/main" id="{C8755E73-48C4-4B30-AEC3-CF06E9993461}"/>
              </a:ext>
            </a:extLst>
          </p:cNvPr>
          <p:cNvSpPr>
            <a:spLocks noGrp="1"/>
          </p:cNvSpPr>
          <p:nvPr>
            <p:ph sz="quarter" idx="24" hasCustomPrompt="1"/>
          </p:nvPr>
        </p:nvSpPr>
        <p:spPr>
          <a:xfrm>
            <a:off x="32147841" y="22713183"/>
            <a:ext cx="4460069" cy="4881600"/>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32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15" name="Rectangle 14">
            <a:extLst>
              <a:ext uri="{FF2B5EF4-FFF2-40B4-BE49-F238E27FC236}">
                <a16:creationId xmlns:a16="http://schemas.microsoft.com/office/drawing/2014/main" id="{E6861DA8-30DB-48AE-B570-F97069B994CF}"/>
              </a:ext>
              <a:ext uri="{C183D7F6-B498-43B3-948B-1728B52AA6E4}">
                <adec:decorative xmlns:adec="http://schemas.microsoft.com/office/drawing/2017/decorative" val="1"/>
              </a:ext>
            </a:extLst>
          </p:cNvPr>
          <p:cNvSpPr/>
          <p:nvPr/>
        </p:nvSpPr>
        <p:spPr>
          <a:xfrm>
            <a:off x="37341983" y="22713183"/>
            <a:ext cx="4434743" cy="4881600"/>
          </a:xfrm>
          <a:prstGeom prst="rect">
            <a:avLst/>
          </a:prstGeom>
          <a:solidFill>
            <a:schemeClr val="bg1"/>
          </a:solidFill>
          <a:ln w="12700" cap="flat" cmpd="sng" algn="ctr">
            <a:noFill/>
            <a:prstDash val="solid"/>
            <a:miter lim="800000"/>
          </a:ln>
          <a:effectLst/>
        </p:spPr>
        <p:txBody>
          <a:bodyPr rtlCol="0" anchor="ctr"/>
          <a:lstStyle/>
          <a:p>
            <a:pPr marL="0" marR="0" lvl="0" indent="0" algn="ctr" defTabSz="914309" eaLnBrk="1" fontAlgn="auto" latinLnBrk="0" hangingPunct="1">
              <a:lnSpc>
                <a:spcPct val="100000"/>
              </a:lnSpc>
              <a:spcBef>
                <a:spcPts val="0"/>
              </a:spcBef>
              <a:spcAft>
                <a:spcPts val="0"/>
              </a:spcAft>
              <a:buClrTx/>
              <a:buSzTx/>
              <a:buFontTx/>
              <a:buNone/>
              <a:tabLst/>
              <a:defRPr/>
            </a:pPr>
            <a:endParaRPr kumimoji="0" lang="en-US" sz="1431" b="0" i="0" u="none" strike="noStrike" kern="0" cap="none" spc="0" normalizeH="0" baseline="0" noProof="0">
              <a:ln>
                <a:noFill/>
              </a:ln>
              <a:solidFill>
                <a:srgbClr val="FFFFFF"/>
              </a:solidFill>
              <a:effectLst/>
              <a:uLnTx/>
              <a:uFillTx/>
              <a:latin typeface="Arial" panose="020B0604020202020204"/>
              <a:ea typeface="+mn-ea"/>
              <a:cs typeface="+mn-cs"/>
            </a:endParaRPr>
          </a:p>
        </p:txBody>
      </p:sp>
      <p:sp>
        <p:nvSpPr>
          <p:cNvPr id="43" name="Content Placeholder 42">
            <a:extLst>
              <a:ext uri="{FF2B5EF4-FFF2-40B4-BE49-F238E27FC236}">
                <a16:creationId xmlns:a16="http://schemas.microsoft.com/office/drawing/2014/main" id="{63D3E744-6C56-4C5F-88D6-4844FC847B5A}"/>
              </a:ext>
            </a:extLst>
          </p:cNvPr>
          <p:cNvSpPr>
            <a:spLocks noGrp="1"/>
          </p:cNvSpPr>
          <p:nvPr>
            <p:ph sz="quarter" idx="25" hasCustomPrompt="1"/>
          </p:nvPr>
        </p:nvSpPr>
        <p:spPr>
          <a:xfrm>
            <a:off x="37340800" y="22713183"/>
            <a:ext cx="4435926" cy="4881600"/>
          </a:xfrm>
          <a:prstGeom prst="rect">
            <a:avLst/>
          </a:prstGeom>
        </p:spPr>
        <p:txBody>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3200">
                <a:latin typeface="+mj-lt"/>
              </a:defRPr>
            </a:lvl1pPr>
          </a:lstStyle>
          <a:p>
            <a:pPr marL="0" marR="0" lvl="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a:pPr>
            <a:r>
              <a:rPr lang="en-US" dirty="0"/>
              <a:t>Click here to add text or choose graphic icon below</a:t>
            </a:r>
          </a:p>
        </p:txBody>
      </p:sp>
      <p:sp>
        <p:nvSpPr>
          <p:cNvPr id="20" name="Text Placeholder 19"/>
          <p:cNvSpPr>
            <a:spLocks noGrp="1"/>
          </p:cNvSpPr>
          <p:nvPr>
            <p:ph type="body" sz="quarter" idx="13" hasCustomPrompt="1"/>
          </p:nvPr>
        </p:nvSpPr>
        <p:spPr>
          <a:xfrm>
            <a:off x="1058784" y="28641677"/>
            <a:ext cx="12419679" cy="1238250"/>
          </a:xfrm>
          <a:prstGeom prst="rect">
            <a:avLst/>
          </a:prstGeom>
        </p:spPr>
        <p:txBody>
          <a:bodyPr>
            <a:normAutofit/>
          </a:bodyPr>
          <a:lstStyle>
            <a:lvl1pPr marL="0" indent="0">
              <a:buNone/>
              <a:defRPr sz="2800" baseline="0">
                <a:solidFill>
                  <a:schemeClr val="bg1"/>
                </a:solidFill>
              </a:defRPr>
            </a:lvl1pPr>
          </a:lstStyle>
          <a:p>
            <a:pPr lvl="0"/>
            <a:r>
              <a:rPr lang="en-US" dirty="0"/>
              <a:t>Add contact details here</a:t>
            </a:r>
            <a:endParaRPr lang="en-GB" dirty="0"/>
          </a:p>
        </p:txBody>
      </p:sp>
      <p:sp>
        <p:nvSpPr>
          <p:cNvPr id="18" name="Text Placeholder 17"/>
          <p:cNvSpPr>
            <a:spLocks noGrp="1"/>
          </p:cNvSpPr>
          <p:nvPr>
            <p:ph type="body" sz="quarter" idx="12" hasCustomPrompt="1"/>
          </p:nvPr>
        </p:nvSpPr>
        <p:spPr>
          <a:xfrm>
            <a:off x="29642776" y="28641677"/>
            <a:ext cx="12133950" cy="1238250"/>
          </a:xfrm>
          <a:prstGeom prst="rect">
            <a:avLst/>
          </a:prstGeom>
        </p:spPr>
        <p:txBody>
          <a:bodyPr>
            <a:normAutofit/>
          </a:bodyPr>
          <a:lstStyle>
            <a:lvl1pPr marL="0" indent="0" algn="r">
              <a:buNone/>
              <a:defRPr sz="2862" baseline="0">
                <a:solidFill>
                  <a:schemeClr val="bg1"/>
                </a:solidFill>
              </a:defRPr>
            </a:lvl1pPr>
          </a:lstStyle>
          <a:p>
            <a:pPr lvl="0"/>
            <a:r>
              <a:rPr lang="en-US" dirty="0"/>
              <a:t>Add collaborator logos here</a:t>
            </a:r>
          </a:p>
        </p:txBody>
      </p:sp>
    </p:spTree>
    <p:extLst>
      <p:ext uri="{BB962C8B-B14F-4D97-AF65-F5344CB8AC3E}">
        <p14:creationId xmlns:p14="http://schemas.microsoft.com/office/powerpoint/2010/main" val="305316005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4" pos="19785">
          <p15:clr>
            <a:srgbClr val="FBAE40"/>
          </p15:clr>
        </p15:guide>
        <p15:guide id="15" pos="12074">
          <p15:clr>
            <a:srgbClr val="FBAE40"/>
          </p15:clr>
        </p15:guide>
        <p15:guide id="21" pos="11621">
          <p15:clr>
            <a:srgbClr val="FBAE40"/>
          </p15:clr>
        </p15:guide>
        <p15:guide id="23" pos="20239">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UCL Colour Palette">
    <p:spTree>
      <p:nvGrpSpPr>
        <p:cNvPr id="1" name=""/>
        <p:cNvGrpSpPr/>
        <p:nvPr/>
      </p:nvGrpSpPr>
      <p:grpSpPr>
        <a:xfrm>
          <a:off x="0" y="0"/>
          <a:ext cx="0" cy="0"/>
          <a:chOff x="0" y="0"/>
          <a:chExt cx="0" cy="0"/>
        </a:xfrm>
      </p:grpSpPr>
    </p:spTree>
    <p:extLst>
      <p:ext uri="{BB962C8B-B14F-4D97-AF65-F5344CB8AC3E}">
        <p14:creationId xmlns:p14="http://schemas.microsoft.com/office/powerpoint/2010/main" val="284609622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6" pos="667">
          <p15:clr>
            <a:srgbClr val="FBAE40"/>
          </p15:clr>
        </p15:guide>
        <p15:guide id="7" pos="26294">
          <p15:clr>
            <a:srgbClr val="FBAE40"/>
          </p15:clr>
        </p15:guide>
        <p15:guide id="8" orient="horz" pos="17361">
          <p15:clr>
            <a:srgbClr val="FBAE40"/>
          </p15:clr>
        </p15:guide>
        <p15:guide id="9" orient="horz" pos="368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w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hyperlink" Target="https://www.ucl.ac.uk/cam/brand" TargetMode="Externa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hyperlink" Target="https://preview.tinyurl.com/UCL-GDPR" TargetMode="Externa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hyperlink" Target="https://www.ucl.ac.uk/library/ucl-copyright-advice"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6E6E6"/>
        </a:solidFill>
        <a:effectLst/>
      </p:bgPr>
    </p:bg>
    <p:spTree>
      <p:nvGrpSpPr>
        <p:cNvPr id="1" name=""/>
        <p:cNvGrpSpPr/>
        <p:nvPr/>
      </p:nvGrpSpPr>
      <p:grpSpPr>
        <a:xfrm>
          <a:off x="0" y="0"/>
          <a:ext cx="0" cy="0"/>
          <a:chOff x="0" y="0"/>
          <a:chExt cx="0" cy="0"/>
        </a:xfrm>
      </p:grpSpPr>
      <p:pic>
        <p:nvPicPr>
          <p:cNvPr id="2" name="UCL Banne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376164"/>
            <a:ext cx="42804000" cy="5154120"/>
          </a:xfrm>
          <a:prstGeom prst="rect">
            <a:avLst/>
          </a:prstGeom>
        </p:spPr>
      </p:pic>
      <p:sp>
        <p:nvSpPr>
          <p:cNvPr id="10" name="Rectangle 9"/>
          <p:cNvSpPr/>
          <p:nvPr/>
        </p:nvSpPr>
        <p:spPr>
          <a:xfrm>
            <a:off x="0" y="28289756"/>
            <a:ext cx="42800589" cy="203739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32"/>
          </a:p>
        </p:txBody>
      </p:sp>
      <p:sp>
        <p:nvSpPr>
          <p:cNvPr id="5" name="Rounded Rectangle 4">
            <a:extLst>
              <a:ext uri="{FF2B5EF4-FFF2-40B4-BE49-F238E27FC236}">
                <a16:creationId xmlns:a16="http://schemas.microsoft.com/office/drawing/2014/main" id="{002E5FBB-FB53-4B43-925B-1900D8F85C2B}"/>
              </a:ext>
              <a:ext uri="{C183D7F6-B498-43B3-948B-1728B52AA6E4}">
                <adec:decorative xmlns:adec="http://schemas.microsoft.com/office/drawing/2017/decorative" val="1"/>
              </a:ext>
            </a:extLst>
          </p:cNvPr>
          <p:cNvSpPr/>
          <p:nvPr/>
        </p:nvSpPr>
        <p:spPr>
          <a:xfrm>
            <a:off x="-10971985" y="1"/>
            <a:ext cx="10509339" cy="30275213"/>
          </a:xfrm>
          <a:prstGeom prst="round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a:solidFill>
                <a:schemeClr val="tx1"/>
              </a:solidFill>
            </a:endParaRPr>
          </a:p>
        </p:txBody>
      </p:sp>
      <p:sp>
        <p:nvSpPr>
          <p:cNvPr id="11" name="TextBox 10">
            <a:extLst>
              <a:ext uri="{FF2B5EF4-FFF2-40B4-BE49-F238E27FC236}">
                <a16:creationId xmlns:a16="http://schemas.microsoft.com/office/drawing/2014/main" id="{460486A7-30C0-4771-A900-AAFFEAE1146C}"/>
              </a:ext>
            </a:extLst>
          </p:cNvPr>
          <p:cNvSpPr txBox="1"/>
          <p:nvPr/>
        </p:nvSpPr>
        <p:spPr>
          <a:xfrm>
            <a:off x="-7205754" y="889794"/>
            <a:ext cx="3542958" cy="833172"/>
          </a:xfrm>
          <a:prstGeom prst="rect">
            <a:avLst/>
          </a:prstGeom>
          <a:noFill/>
        </p:spPr>
        <p:txBody>
          <a:bodyPr wrap="none" tIns="46797" bIns="46797" rtlCol="0">
            <a:spAutoFit/>
          </a:bodyPr>
          <a:lstStyle/>
          <a:p>
            <a:r>
              <a:rPr lang="en-GB" sz="4800" b="1">
                <a:latin typeface="+mj-lt"/>
              </a:rPr>
              <a:t>Guidelines:</a:t>
            </a:r>
          </a:p>
        </p:txBody>
      </p:sp>
      <p:sp>
        <p:nvSpPr>
          <p:cNvPr id="17" name="TextBox 16">
            <a:extLst>
              <a:ext uri="{FF2B5EF4-FFF2-40B4-BE49-F238E27FC236}">
                <a16:creationId xmlns:a16="http://schemas.microsoft.com/office/drawing/2014/main" id="{AAE1DDCA-E69D-4D9F-9870-6F8562E2A2F8}"/>
              </a:ext>
              <a:ext uri="{C183D7F6-B498-43B3-948B-1728B52AA6E4}">
                <adec:decorative xmlns:adec="http://schemas.microsoft.com/office/drawing/2017/decorative" val="0"/>
              </a:ext>
            </a:extLst>
          </p:cNvPr>
          <p:cNvSpPr txBox="1"/>
          <p:nvPr/>
        </p:nvSpPr>
        <p:spPr>
          <a:xfrm>
            <a:off x="-10666950" y="2215296"/>
            <a:ext cx="9899266" cy="22146699"/>
          </a:xfrm>
          <a:prstGeom prst="rect">
            <a:avLst/>
          </a:prstGeom>
          <a:noFill/>
        </p:spPr>
        <p:txBody>
          <a:bodyPr wrap="square" tIns="46797" bIns="46797" rtlCol="0">
            <a:spAutoFit/>
          </a:bodyPr>
          <a:lstStyle/>
          <a:p>
            <a:pPr marL="0" indent="0" algn="l" defTabSz="457154" rtl="0" eaLnBrk="1" latinLnBrk="0" hangingPunct="1">
              <a:spcAft>
                <a:spcPts val="1200"/>
              </a:spcAft>
              <a:buFont typeface="Arial" panose="020B0604020202020204" pitchFamily="34" charset="0"/>
              <a:buNone/>
            </a:pPr>
            <a:r>
              <a:rPr lang="en-GB" sz="3600" b="1" kern="1200">
                <a:solidFill>
                  <a:schemeClr val="tx1"/>
                </a:solidFill>
                <a:latin typeface="+mj-lt"/>
                <a:ea typeface="+mn-ea"/>
                <a:cs typeface="+mn-cs"/>
              </a:rPr>
              <a:t>UCL Banner </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a:solidFill>
                  <a:schemeClr val="tx1"/>
                </a:solidFill>
                <a:latin typeface="+mn-lt"/>
                <a:ea typeface="+mn-ea"/>
                <a:cs typeface="+mn-cs"/>
              </a:rPr>
              <a:t>The colour and format should not be altered.</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a:solidFill>
                  <a:schemeClr val="tx1"/>
                </a:solidFill>
                <a:latin typeface="+mn-lt"/>
                <a:ea typeface="+mn-ea"/>
                <a:cs typeface="+mn-cs"/>
              </a:rPr>
              <a:t>Do not place other images or logos on the banner.</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a:solidFill>
                  <a:schemeClr val="tx1"/>
                </a:solidFill>
                <a:latin typeface="+mn-lt"/>
                <a:ea typeface="+mn-ea"/>
                <a:cs typeface="+mn-cs"/>
              </a:rPr>
              <a:t>Title text should be left aligned unless a poster number is added.</a:t>
            </a:r>
          </a:p>
          <a:p>
            <a:pPr marL="0" indent="0">
              <a:buFontTx/>
              <a:buNone/>
            </a:pPr>
            <a:endParaRPr lang="en-GB" sz="3200" b="0"/>
          </a:p>
          <a:p>
            <a:pPr marL="0" indent="0" algn="l" defTabSz="457154" rtl="0" eaLnBrk="1" latinLnBrk="0" hangingPunct="1">
              <a:spcAft>
                <a:spcPts val="1200"/>
              </a:spcAft>
              <a:buFont typeface="Arial" panose="020B0604020202020204" pitchFamily="34" charset="0"/>
              <a:buNone/>
            </a:pPr>
            <a:r>
              <a:rPr lang="en-GB" sz="3600" b="1" kern="1200">
                <a:solidFill>
                  <a:schemeClr val="tx1"/>
                </a:solidFill>
                <a:latin typeface="+mj-lt"/>
                <a:ea typeface="+mn-ea"/>
                <a:cs typeface="+mn-cs"/>
              </a:rPr>
              <a:t>Layout</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a:solidFill>
                  <a:schemeClr val="tx1"/>
                </a:solidFill>
                <a:latin typeface="+mn-lt"/>
                <a:ea typeface="+mn-ea"/>
                <a:cs typeface="+mn-cs"/>
              </a:rPr>
              <a:t>This should be visually appealing and easy to follow. Be consistent.</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a:solidFill>
                  <a:schemeClr val="tx1"/>
                </a:solidFill>
                <a:latin typeface="+mn-lt"/>
                <a:ea typeface="+mn-ea"/>
                <a:cs typeface="+mn-cs"/>
              </a:rPr>
              <a:t>Choose one slide layout and delete the rest of the slides. Adjust background boxes via the slide master view if required – see under view menu.</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a:solidFill>
                  <a:schemeClr val="tx1"/>
                </a:solidFill>
                <a:latin typeface="+mn-lt"/>
                <a:ea typeface="+mn-ea"/>
                <a:cs typeface="+mn-cs"/>
              </a:rPr>
              <a:t>Ensure that the guides are turned on – see under view menu.</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a:solidFill>
                  <a:schemeClr val="tx1"/>
                </a:solidFill>
                <a:latin typeface="+mn-lt"/>
                <a:ea typeface="+mn-ea"/>
                <a:cs typeface="+mn-cs"/>
              </a:rPr>
              <a:t>Keep within the margin guidelines at the edge to help visibility and avoid the risk of content being trimmed off. </a:t>
            </a:r>
          </a:p>
          <a:p>
            <a:pPr marL="0" indent="0">
              <a:buFontTx/>
              <a:buNone/>
            </a:pPr>
            <a:endParaRPr lang="en-GB" sz="3200" b="1"/>
          </a:p>
          <a:p>
            <a:pPr marL="0" indent="0" algn="l" defTabSz="457154" rtl="0" eaLnBrk="1" latinLnBrk="0" hangingPunct="1">
              <a:spcAft>
                <a:spcPts val="1200"/>
              </a:spcAft>
              <a:buFont typeface="Arial" panose="020B0604020202020204" pitchFamily="34" charset="0"/>
              <a:buNone/>
            </a:pPr>
            <a:r>
              <a:rPr lang="en-GB" sz="3600" b="1" kern="1200">
                <a:solidFill>
                  <a:schemeClr val="tx1"/>
                </a:solidFill>
                <a:latin typeface="+mj-lt"/>
                <a:ea typeface="+mn-ea"/>
                <a:cs typeface="+mn-cs"/>
              </a:rPr>
              <a:t>Text</a:t>
            </a:r>
            <a:r>
              <a:rPr lang="en-GB" sz="3600" b="1" kern="1200">
                <a:solidFill>
                  <a:schemeClr val="tx1"/>
                </a:solidFill>
                <a:latin typeface="+mn-lt"/>
                <a:ea typeface="+mn-ea"/>
                <a:cs typeface="+mn-cs"/>
              </a:rPr>
              <a:t> </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a:solidFill>
                  <a:schemeClr val="tx1"/>
                </a:solidFill>
                <a:latin typeface="+mn-lt"/>
                <a:ea typeface="+mn-ea"/>
                <a:cs typeface="+mn-cs"/>
              </a:rPr>
              <a:t>Aim for 300-600 words that are concise and straight to the point.</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a:solidFill>
                  <a:schemeClr val="tx1"/>
                </a:solidFill>
                <a:latin typeface="+mn-lt"/>
                <a:ea typeface="+mn-ea"/>
                <a:cs typeface="+mn-cs"/>
              </a:rPr>
              <a:t>Avoid font sizes below 24pt except for captions.</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a:solidFill>
                  <a:schemeClr val="tx1"/>
                </a:solidFill>
                <a:latin typeface="+mn-lt"/>
                <a:ea typeface="+mn-ea"/>
                <a:cs typeface="+mn-cs"/>
              </a:rPr>
              <a:t>Use a maximum of two fonts (the official UCL fonts are Arial or Helvetica, with Garamond as an additional font in the body text).</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a:solidFill>
                  <a:schemeClr val="tx1"/>
                </a:solidFill>
                <a:latin typeface="+mn-lt"/>
                <a:ea typeface="+mn-ea"/>
                <a:cs typeface="+mn-cs"/>
              </a:rPr>
              <a:t>Use bullet points to break up large areas of text.</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a:solidFill>
                  <a:schemeClr val="tx1"/>
                </a:solidFill>
                <a:latin typeface="+mn-lt"/>
                <a:ea typeface="+mn-ea"/>
                <a:cs typeface="+mn-cs"/>
              </a:rPr>
              <a:t>Left justified text is easier to read than fully justified.</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a:solidFill>
                  <a:schemeClr val="tx1"/>
                </a:solidFill>
                <a:latin typeface="+mn-lt"/>
                <a:ea typeface="+mn-ea"/>
                <a:cs typeface="+mn-cs"/>
              </a:rPr>
              <a:t>Set headings in bold.</a:t>
            </a:r>
          </a:p>
          <a:p>
            <a:pPr>
              <a:buFontTx/>
              <a:buNone/>
            </a:pPr>
            <a:endParaRPr lang="en-GB" sz="3200" b="1"/>
          </a:p>
          <a:p>
            <a:pPr marL="0" indent="0" algn="l" defTabSz="457154" rtl="0" eaLnBrk="1" latinLnBrk="0" hangingPunct="1">
              <a:spcAft>
                <a:spcPts val="1200"/>
              </a:spcAft>
              <a:buFont typeface="Arial" panose="020B0604020202020204" pitchFamily="34" charset="0"/>
              <a:buNone/>
            </a:pPr>
            <a:r>
              <a:rPr lang="en-GB" sz="3600" b="1" kern="1200">
                <a:solidFill>
                  <a:schemeClr val="tx1"/>
                </a:solidFill>
                <a:latin typeface="+mj-lt"/>
                <a:ea typeface="+mn-ea"/>
                <a:cs typeface="+mn-cs"/>
              </a:rPr>
              <a:t>Graphs, Images and Tables</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a:solidFill>
                  <a:schemeClr val="tx1"/>
                </a:solidFill>
                <a:latin typeface="+mn-lt"/>
                <a:ea typeface="+mn-ea"/>
                <a:cs typeface="+mn-cs"/>
              </a:rPr>
              <a:t>They must be embedded in your file by inserting the file rather than copying and pasting.</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a:solidFill>
                  <a:schemeClr val="tx1"/>
                </a:solidFill>
                <a:latin typeface="+mn-lt"/>
                <a:ea typeface="+mn-ea"/>
                <a:cs typeface="+mn-cs"/>
              </a:rPr>
              <a:t>Make sure they are sufficient size and clearly visible with at least 150dpi.</a:t>
            </a:r>
            <a:endParaRPr lang="en-GB" sz="3200" b="1"/>
          </a:p>
          <a:p>
            <a:pPr>
              <a:buFontTx/>
              <a:buNone/>
            </a:pPr>
            <a:endParaRPr lang="en-GB" sz="3200" b="1"/>
          </a:p>
        </p:txBody>
      </p:sp>
      <p:sp>
        <p:nvSpPr>
          <p:cNvPr id="6" name="Rounded Rectangle 5">
            <a:extLst>
              <a:ext uri="{FF2B5EF4-FFF2-40B4-BE49-F238E27FC236}">
                <a16:creationId xmlns:a16="http://schemas.microsoft.com/office/drawing/2014/main" id="{D18A53B1-78B8-DD4E-A5C3-83962FFEC935}"/>
              </a:ext>
            </a:extLst>
          </p:cNvPr>
          <p:cNvSpPr/>
          <p:nvPr/>
        </p:nvSpPr>
        <p:spPr>
          <a:xfrm>
            <a:off x="43291003" y="1"/>
            <a:ext cx="10511220" cy="30275213"/>
          </a:xfrm>
          <a:prstGeom prst="roundRect">
            <a:avLst/>
          </a:prstGeom>
          <a:solidFill>
            <a:srgbClr val="F6F6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432"/>
          </a:p>
        </p:txBody>
      </p:sp>
      <p:sp>
        <p:nvSpPr>
          <p:cNvPr id="14" name="TextBox 13">
            <a:extLst>
              <a:ext uri="{FF2B5EF4-FFF2-40B4-BE49-F238E27FC236}">
                <a16:creationId xmlns:a16="http://schemas.microsoft.com/office/drawing/2014/main" id="{4AE4917F-44AA-42A0-A37D-362EC920AC03}"/>
              </a:ext>
            </a:extLst>
          </p:cNvPr>
          <p:cNvSpPr txBox="1"/>
          <p:nvPr/>
        </p:nvSpPr>
        <p:spPr>
          <a:xfrm>
            <a:off x="46243108" y="909884"/>
            <a:ext cx="5016117" cy="833172"/>
          </a:xfrm>
          <a:prstGeom prst="rect">
            <a:avLst/>
          </a:prstGeom>
          <a:noFill/>
        </p:spPr>
        <p:txBody>
          <a:bodyPr wrap="none" tIns="46797" bIns="46797" rtlCol="0">
            <a:spAutoFit/>
          </a:bodyPr>
          <a:lstStyle/>
          <a:p>
            <a:r>
              <a:rPr lang="en-GB" sz="4800" b="1">
                <a:latin typeface="+mj-lt"/>
              </a:rPr>
              <a:t>Guidelines </a:t>
            </a:r>
            <a:r>
              <a:rPr lang="en-GB" sz="4800" b="1" err="1">
                <a:latin typeface="+mj-lt"/>
              </a:rPr>
              <a:t>cont</a:t>
            </a:r>
            <a:r>
              <a:rPr lang="en-GB" sz="4800" b="1">
                <a:latin typeface="+mj-lt"/>
              </a:rPr>
              <a:t>:</a:t>
            </a:r>
          </a:p>
        </p:txBody>
      </p:sp>
      <p:sp>
        <p:nvSpPr>
          <p:cNvPr id="20" name="TextBox 19">
            <a:extLst>
              <a:ext uri="{FF2B5EF4-FFF2-40B4-BE49-F238E27FC236}">
                <a16:creationId xmlns:a16="http://schemas.microsoft.com/office/drawing/2014/main" id="{ACE2FCA7-9DB8-47EA-9CD5-CED948F4A325}"/>
              </a:ext>
            </a:extLst>
          </p:cNvPr>
          <p:cNvSpPr txBox="1"/>
          <p:nvPr/>
        </p:nvSpPr>
        <p:spPr>
          <a:xfrm>
            <a:off x="43596980" y="2200896"/>
            <a:ext cx="9899266" cy="7558090"/>
          </a:xfrm>
          <a:prstGeom prst="rect">
            <a:avLst/>
          </a:prstGeom>
          <a:noFill/>
        </p:spPr>
        <p:txBody>
          <a:bodyPr wrap="square" tIns="46797" bIns="46797" rtlCol="0">
            <a:spAutoFit/>
          </a:bodyPr>
          <a:lstStyle/>
          <a:p>
            <a:pPr marL="0" indent="0" algn="l" defTabSz="457154" rtl="0" eaLnBrk="1" latinLnBrk="0" hangingPunct="1">
              <a:spcAft>
                <a:spcPts val="1200"/>
              </a:spcAft>
              <a:buFont typeface="Arial" panose="020B0604020202020204" pitchFamily="34" charset="0"/>
              <a:buNone/>
            </a:pPr>
            <a:r>
              <a:rPr lang="en-GB" sz="3600" b="1" kern="1200">
                <a:solidFill>
                  <a:schemeClr val="tx1"/>
                </a:solidFill>
                <a:latin typeface="+mj-lt"/>
                <a:ea typeface="+mn-ea"/>
                <a:cs typeface="+mn-cs"/>
              </a:rPr>
              <a:t>Colour</a:t>
            </a:r>
            <a:endParaRPr lang="en-GB" sz="4000" b="1" kern="1200">
              <a:solidFill>
                <a:schemeClr val="tx1"/>
              </a:solidFill>
              <a:latin typeface="+mj-lt"/>
              <a:ea typeface="+mn-ea"/>
              <a:cs typeface="+mn-cs"/>
            </a:endParaRP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a:solidFill>
                  <a:schemeClr val="tx1"/>
                </a:solidFill>
                <a:latin typeface="+mn-lt"/>
                <a:ea typeface="+mn-ea"/>
                <a:cs typeface="+mn-cs"/>
              </a:rPr>
              <a:t>Select background colours that contrast well 	   with the font to allow easier reading of your text.</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a:solidFill>
                  <a:schemeClr val="tx1"/>
                </a:solidFill>
                <a:latin typeface="+mn-lt"/>
                <a:ea typeface="+mn-ea"/>
                <a:cs typeface="+mn-cs"/>
              </a:rPr>
              <a:t>Avoid backgrounds with bright or dark colours and full of texture as this will distract readers.</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a:solidFill>
                  <a:schemeClr val="tx1"/>
                </a:solidFill>
                <a:latin typeface="+mn-lt"/>
                <a:ea typeface="+mn-ea"/>
                <a:cs typeface="+mn-cs"/>
              </a:rPr>
              <a:t>Try not to use too many colours – 1-2 work well, plus images and charts.</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a:solidFill>
                  <a:schemeClr val="tx1"/>
                </a:solidFill>
                <a:latin typeface="+mn-lt"/>
                <a:ea typeface="+mn-ea"/>
                <a:cs typeface="+mn-cs"/>
              </a:rPr>
              <a:t>The template is formatted with appropriate UCL colours for the banner colour chosen.</a:t>
            </a:r>
          </a:p>
          <a:p>
            <a:pPr marL="457154" marR="0" lvl="0" indent="-457154" algn="l" defTabSz="457154" rtl="0" eaLnBrk="1" fontAlgn="auto" latinLnBrk="0" hangingPunct="1">
              <a:lnSpc>
                <a:spcPct val="100000"/>
              </a:lnSpc>
              <a:spcBef>
                <a:spcPts val="0"/>
              </a:spcBef>
              <a:spcAft>
                <a:spcPts val="1800"/>
              </a:spcAft>
              <a:buClrTx/>
              <a:buSzTx/>
              <a:buFont typeface="Arial" panose="020B0604020202020204" pitchFamily="34" charset="0"/>
              <a:buChar char="•"/>
              <a:tabLst/>
              <a:defRPr/>
            </a:pPr>
            <a:r>
              <a:rPr lang="en-GB" sz="3600" kern="1200">
                <a:solidFill>
                  <a:schemeClr val="tx1"/>
                </a:solidFill>
                <a:latin typeface="+mn-lt"/>
                <a:ea typeface="+mn-ea"/>
                <a:cs typeface="+mn-cs"/>
              </a:rPr>
              <a:t>Don’t use multiple layers of transparency in PowerPoint.</a:t>
            </a:r>
          </a:p>
          <a:p>
            <a:pPr marL="457154" indent="-457154" algn="l" defTabSz="457154" rtl="0" eaLnBrk="1" latinLnBrk="0" hangingPunct="1">
              <a:lnSpc>
                <a:spcPct val="100000"/>
              </a:lnSpc>
              <a:spcAft>
                <a:spcPts val="1800"/>
              </a:spcAft>
              <a:buFont typeface="Arial" panose="020B0604020202020204" pitchFamily="34" charset="0"/>
              <a:buChar char="•"/>
            </a:pPr>
            <a:endParaRPr lang="en-GB" sz="3600" b="1" kern="1200">
              <a:solidFill>
                <a:schemeClr val="tx1"/>
              </a:solidFill>
              <a:latin typeface="+mn-lt"/>
              <a:ea typeface="+mn-ea"/>
              <a:cs typeface="+mn-cs"/>
            </a:endParaRPr>
          </a:p>
        </p:txBody>
      </p:sp>
      <p:sp>
        <p:nvSpPr>
          <p:cNvPr id="15" name="TextBox 14">
            <a:extLst>
              <a:ext uri="{FF2B5EF4-FFF2-40B4-BE49-F238E27FC236}">
                <a16:creationId xmlns:a16="http://schemas.microsoft.com/office/drawing/2014/main" id="{2F795265-BF50-4AB3-8E7B-E09E72992F10}"/>
              </a:ext>
            </a:extLst>
          </p:cNvPr>
          <p:cNvSpPr txBox="1"/>
          <p:nvPr/>
        </p:nvSpPr>
        <p:spPr>
          <a:xfrm>
            <a:off x="43711148" y="9641521"/>
            <a:ext cx="9899266" cy="9804859"/>
          </a:xfrm>
          <a:prstGeom prst="rect">
            <a:avLst/>
          </a:prstGeom>
          <a:noFill/>
        </p:spPr>
        <p:txBody>
          <a:bodyPr wrap="square" tIns="46797" bIns="46797" rtlCol="0">
            <a:spAutoFit/>
          </a:bodyPr>
          <a:lstStyle/>
          <a:p>
            <a:pPr marL="0" indent="0" algn="l" defTabSz="457154" rtl="0" eaLnBrk="1" latinLnBrk="0" hangingPunct="1">
              <a:spcAft>
                <a:spcPts val="1200"/>
              </a:spcAft>
              <a:buFont typeface="Arial" panose="020B0604020202020204" pitchFamily="34" charset="0"/>
              <a:buNone/>
            </a:pPr>
            <a:r>
              <a:rPr lang="en-GB" sz="3600" b="1" kern="1200">
                <a:solidFill>
                  <a:schemeClr val="tx1"/>
                </a:solidFill>
                <a:latin typeface="+mj-lt"/>
                <a:ea typeface="+mn-ea"/>
                <a:cs typeface="+mn-cs"/>
              </a:rPr>
              <a:t>Copyright  and GDPR</a:t>
            </a:r>
          </a:p>
          <a:p>
            <a:r>
              <a:rPr lang="en-GB" sz="2800"/>
              <a:t>(copy and paste the link  to your browser )</a:t>
            </a:r>
          </a:p>
          <a:p>
            <a:endParaRPr lang="en-GB" sz="3200">
              <a:hlinkClick r:id="" action="ppaction://noaction"/>
            </a:endParaRPr>
          </a:p>
          <a:p>
            <a:r>
              <a:rPr lang="en-GB" sz="3200">
                <a:hlinkClick r:id="" action="ppaction://noaction"/>
              </a:rPr>
              <a:t>https</a:t>
            </a:r>
            <a:r>
              <a:rPr lang="en-GB" sz="3200">
                <a:hlinkClick r:id="rId14"/>
              </a:rPr>
              <a:t>://www.ucl.ac.uk/library/ucl-copyright-advice</a:t>
            </a:r>
            <a:endParaRPr lang="en-GB" sz="3200"/>
          </a:p>
          <a:p>
            <a:endParaRPr lang="en-GB" sz="3200"/>
          </a:p>
          <a:p>
            <a:r>
              <a:rPr lang="en-GB" sz="3200">
                <a:hlinkClick r:id="rId15"/>
              </a:rPr>
              <a:t>https://preview.tinyurl.com/UCL-GDPR</a:t>
            </a:r>
            <a:endParaRPr lang="en-GB" sz="3200"/>
          </a:p>
          <a:p>
            <a:endParaRPr lang="en-GB" sz="3200"/>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a:solidFill>
                  <a:schemeClr val="tx1"/>
                </a:solidFill>
                <a:latin typeface="+mn-lt"/>
                <a:ea typeface="+mn-ea"/>
                <a:cs typeface="+mn-cs"/>
              </a:rPr>
              <a:t>Only use copyright free images or those available under the creative commons license unless you have bought the relevant license. You are free to use graphics you have generated but check with colleagues if they have produced them.</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a:solidFill>
                  <a:schemeClr val="tx1"/>
                </a:solidFill>
                <a:latin typeface="+mn-lt"/>
                <a:ea typeface="+mn-ea"/>
                <a:cs typeface="+mn-cs"/>
              </a:rPr>
              <a:t>Images downloaded from online are subject to copyright unless this has been waived.</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a:solidFill>
                  <a:schemeClr val="tx1"/>
                </a:solidFill>
                <a:latin typeface="+mn-lt"/>
                <a:ea typeface="+mn-ea"/>
                <a:cs typeface="+mn-cs"/>
              </a:rPr>
              <a:t>Flickr.com is a useful resource to check the copyright status of images from the web.</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a:solidFill>
                  <a:schemeClr val="tx1"/>
                </a:solidFill>
                <a:latin typeface="+mn-lt"/>
                <a:ea typeface="+mn-ea"/>
                <a:cs typeface="+mn-cs"/>
              </a:rPr>
              <a:t>Follow GDPR (General Data Protection Regulation) for images of people.</a:t>
            </a:r>
          </a:p>
        </p:txBody>
      </p:sp>
      <p:sp>
        <p:nvSpPr>
          <p:cNvPr id="4" name="TextBox 3">
            <a:extLst>
              <a:ext uri="{FF2B5EF4-FFF2-40B4-BE49-F238E27FC236}">
                <a16:creationId xmlns:a16="http://schemas.microsoft.com/office/drawing/2014/main" id="{906DADF1-5D4E-4677-9DFB-8C1D0DFD74DB}"/>
              </a:ext>
            </a:extLst>
          </p:cNvPr>
          <p:cNvSpPr txBox="1"/>
          <p:nvPr/>
        </p:nvSpPr>
        <p:spPr>
          <a:xfrm>
            <a:off x="43596980" y="20038106"/>
            <a:ext cx="9899266" cy="3077766"/>
          </a:xfrm>
          <a:prstGeom prst="rect">
            <a:avLst/>
          </a:prstGeom>
          <a:noFill/>
        </p:spPr>
        <p:txBody>
          <a:bodyPr wrap="square" rtlCol="0">
            <a:spAutoFit/>
          </a:bodyPr>
          <a:lstStyle/>
          <a:p>
            <a:pPr algn="l" defTabSz="457154" rtl="0" eaLnBrk="1" latinLnBrk="0" hangingPunct="1">
              <a:lnSpc>
                <a:spcPct val="100000"/>
              </a:lnSpc>
              <a:spcAft>
                <a:spcPts val="1800"/>
              </a:spcAft>
              <a:buFont typeface="Arial" panose="020B0604020202020204" pitchFamily="34" charset="0"/>
            </a:pPr>
            <a:r>
              <a:rPr lang="en-GB" sz="3600" b="1" kern="1200">
                <a:solidFill>
                  <a:schemeClr val="tx1"/>
                </a:solidFill>
                <a:latin typeface="+mj-lt"/>
                <a:ea typeface="+mn-ea"/>
                <a:cs typeface="+mn-cs"/>
              </a:rPr>
              <a:t>UCL Banner vs UCL Logo</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a:solidFill>
                  <a:schemeClr val="tx1"/>
                </a:solidFill>
                <a:latin typeface="+mn-lt"/>
                <a:ea typeface="+mn-ea"/>
                <a:cs typeface="+mn-cs"/>
              </a:rPr>
              <a:t>Use the banner where UCL is the major partner</a:t>
            </a:r>
          </a:p>
          <a:p>
            <a:pPr marL="457154" indent="-457154" algn="l" defTabSz="457154" rtl="0" eaLnBrk="1" latinLnBrk="0" hangingPunct="1">
              <a:lnSpc>
                <a:spcPct val="100000"/>
              </a:lnSpc>
              <a:spcAft>
                <a:spcPts val="1800"/>
              </a:spcAft>
              <a:buFont typeface="Arial" panose="020B0604020202020204" pitchFamily="34" charset="0"/>
              <a:buChar char="•"/>
            </a:pPr>
            <a:r>
              <a:rPr lang="en-GB" sz="3200" kern="1200">
                <a:solidFill>
                  <a:schemeClr val="tx1"/>
                </a:solidFill>
                <a:latin typeface="+mn-lt"/>
                <a:ea typeface="+mn-ea"/>
                <a:cs typeface="+mn-cs"/>
              </a:rPr>
              <a:t>Use the UCL logo only where work is an equal collaboration and place all logos at the bottom - </a:t>
            </a:r>
            <a:r>
              <a:rPr lang="en-GB" sz="3200">
                <a:hlinkClick r:id="rId16"/>
              </a:rPr>
              <a:t>https://www.ucl.ac.uk/cam/brand</a:t>
            </a:r>
            <a:endParaRPr lang="en-GB" sz="3200" kern="1200">
              <a:solidFill>
                <a:schemeClr val="tx1"/>
              </a:solidFill>
              <a:latin typeface="+mn-lt"/>
              <a:ea typeface="+mn-ea"/>
              <a:cs typeface="+mn-cs"/>
            </a:endParaRPr>
          </a:p>
        </p:txBody>
      </p:sp>
    </p:spTree>
    <p:extLst>
      <p:ext uri="{BB962C8B-B14F-4D97-AF65-F5344CB8AC3E}">
        <p14:creationId xmlns:p14="http://schemas.microsoft.com/office/powerpoint/2010/main" val="549790678"/>
      </p:ext>
    </p:extLst>
  </p:cSld>
  <p:clrMap bg1="lt1" tx1="dk1" bg2="lt2" tx2="dk2" accent1="accent1" accent2="accent2" accent3="accent3" accent4="accent4" accent5="accent5" accent6="accent6" hlink="hlink" folHlink="folHlink"/>
  <p:sldLayoutIdLst>
    <p:sldLayoutId id="2147483894" r:id="rId1"/>
    <p:sldLayoutId id="2147483895" r:id="rId2"/>
    <p:sldLayoutId id="2147483897" r:id="rId3"/>
    <p:sldLayoutId id="2147483898" r:id="rId4"/>
    <p:sldLayoutId id="2147483899" r:id="rId5"/>
    <p:sldLayoutId id="2147483900" r:id="rId6"/>
    <p:sldLayoutId id="2147483901" r:id="rId7"/>
    <p:sldLayoutId id="2147483902" r:id="rId8"/>
    <p:sldLayoutId id="2147483903" r:id="rId9"/>
    <p:sldLayoutId id="2147483904" r:id="rId10"/>
    <p:sldLayoutId id="2147483905" r:id="rId11"/>
  </p:sldLayoutIdLst>
  <p:txStyles>
    <p:titleStyle>
      <a:lvl1pPr algn="l" defTabSz="3209320" rtl="0" eaLnBrk="1" latinLnBrk="0" hangingPunct="1">
        <a:lnSpc>
          <a:spcPct val="90000"/>
        </a:lnSpc>
        <a:spcBef>
          <a:spcPct val="0"/>
        </a:spcBef>
        <a:buNone/>
        <a:defRPr sz="15442" kern="1200">
          <a:solidFill>
            <a:schemeClr val="tx1"/>
          </a:solidFill>
          <a:latin typeface="+mj-lt"/>
          <a:ea typeface="+mj-ea"/>
          <a:cs typeface="+mj-cs"/>
        </a:defRPr>
      </a:lvl1pPr>
    </p:titleStyle>
    <p:bodyStyle>
      <a:lvl1pPr marL="802331" indent="-802331" algn="l" defTabSz="3209320" rtl="0" eaLnBrk="1" latinLnBrk="0" hangingPunct="1">
        <a:lnSpc>
          <a:spcPct val="90000"/>
        </a:lnSpc>
        <a:spcBef>
          <a:spcPts val="3510"/>
        </a:spcBef>
        <a:buFont typeface="Arial" panose="020B0604020202020204" pitchFamily="34" charset="0"/>
        <a:buChar char="•"/>
        <a:defRPr sz="9827" kern="1200">
          <a:solidFill>
            <a:schemeClr val="tx1"/>
          </a:solidFill>
          <a:latin typeface="+mn-lt"/>
          <a:ea typeface="+mn-ea"/>
          <a:cs typeface="+mn-cs"/>
        </a:defRPr>
      </a:lvl1pPr>
      <a:lvl2pPr marL="2406990" indent="-802331" algn="l" defTabSz="3209320" rtl="0" eaLnBrk="1" latinLnBrk="0" hangingPunct="1">
        <a:lnSpc>
          <a:spcPct val="90000"/>
        </a:lnSpc>
        <a:spcBef>
          <a:spcPts val="1755"/>
        </a:spcBef>
        <a:buFont typeface="Arial" panose="020B0604020202020204" pitchFamily="34" charset="0"/>
        <a:buChar char="•"/>
        <a:defRPr sz="8423" kern="1200">
          <a:solidFill>
            <a:schemeClr val="tx1"/>
          </a:solidFill>
          <a:latin typeface="+mn-lt"/>
          <a:ea typeface="+mn-ea"/>
          <a:cs typeface="+mn-cs"/>
        </a:defRPr>
      </a:lvl2pPr>
      <a:lvl3pPr marL="4011651" indent="-802331" algn="l" defTabSz="3209320" rtl="0" eaLnBrk="1" latinLnBrk="0" hangingPunct="1">
        <a:lnSpc>
          <a:spcPct val="90000"/>
        </a:lnSpc>
        <a:spcBef>
          <a:spcPts val="1755"/>
        </a:spcBef>
        <a:buFont typeface="Arial" panose="020B0604020202020204" pitchFamily="34" charset="0"/>
        <a:buChar char="•"/>
        <a:defRPr sz="7019" kern="1200">
          <a:solidFill>
            <a:schemeClr val="tx1"/>
          </a:solidFill>
          <a:latin typeface="+mn-lt"/>
          <a:ea typeface="+mn-ea"/>
          <a:cs typeface="+mn-cs"/>
        </a:defRPr>
      </a:lvl3pPr>
      <a:lvl4pPr marL="5616311"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4pPr>
      <a:lvl5pPr marL="7220972"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5pPr>
      <a:lvl6pPr marL="8825631"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6pPr>
      <a:lvl7pPr marL="10430291"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7pPr>
      <a:lvl8pPr marL="12034951"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8pPr>
      <a:lvl9pPr marL="13639612"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9pPr>
    </p:bodyStyle>
    <p:otherStyle>
      <a:defPPr>
        <a:defRPr lang="en-US"/>
      </a:defPPr>
      <a:lvl1pPr marL="0" algn="l" defTabSz="3209320" rtl="0" eaLnBrk="1" latinLnBrk="0" hangingPunct="1">
        <a:defRPr sz="6317" kern="1200">
          <a:solidFill>
            <a:schemeClr val="tx1"/>
          </a:solidFill>
          <a:latin typeface="+mn-lt"/>
          <a:ea typeface="+mn-ea"/>
          <a:cs typeface="+mn-cs"/>
        </a:defRPr>
      </a:lvl1pPr>
      <a:lvl2pPr marL="1604660" algn="l" defTabSz="3209320" rtl="0" eaLnBrk="1" latinLnBrk="0" hangingPunct="1">
        <a:defRPr sz="6317" kern="1200">
          <a:solidFill>
            <a:schemeClr val="tx1"/>
          </a:solidFill>
          <a:latin typeface="+mn-lt"/>
          <a:ea typeface="+mn-ea"/>
          <a:cs typeface="+mn-cs"/>
        </a:defRPr>
      </a:lvl2pPr>
      <a:lvl3pPr marL="3209320" algn="l" defTabSz="3209320" rtl="0" eaLnBrk="1" latinLnBrk="0" hangingPunct="1">
        <a:defRPr sz="6317" kern="1200">
          <a:solidFill>
            <a:schemeClr val="tx1"/>
          </a:solidFill>
          <a:latin typeface="+mn-lt"/>
          <a:ea typeface="+mn-ea"/>
          <a:cs typeface="+mn-cs"/>
        </a:defRPr>
      </a:lvl3pPr>
      <a:lvl4pPr marL="4813981" algn="l" defTabSz="3209320" rtl="0" eaLnBrk="1" latinLnBrk="0" hangingPunct="1">
        <a:defRPr sz="6317" kern="1200">
          <a:solidFill>
            <a:schemeClr val="tx1"/>
          </a:solidFill>
          <a:latin typeface="+mn-lt"/>
          <a:ea typeface="+mn-ea"/>
          <a:cs typeface="+mn-cs"/>
        </a:defRPr>
      </a:lvl4pPr>
      <a:lvl5pPr marL="6418641" algn="l" defTabSz="3209320" rtl="0" eaLnBrk="1" latinLnBrk="0" hangingPunct="1">
        <a:defRPr sz="6317" kern="1200">
          <a:solidFill>
            <a:schemeClr val="tx1"/>
          </a:solidFill>
          <a:latin typeface="+mn-lt"/>
          <a:ea typeface="+mn-ea"/>
          <a:cs typeface="+mn-cs"/>
        </a:defRPr>
      </a:lvl5pPr>
      <a:lvl6pPr marL="8023302" algn="l" defTabSz="3209320" rtl="0" eaLnBrk="1" latinLnBrk="0" hangingPunct="1">
        <a:defRPr sz="6317" kern="1200">
          <a:solidFill>
            <a:schemeClr val="tx1"/>
          </a:solidFill>
          <a:latin typeface="+mn-lt"/>
          <a:ea typeface="+mn-ea"/>
          <a:cs typeface="+mn-cs"/>
        </a:defRPr>
      </a:lvl6pPr>
      <a:lvl7pPr marL="9627962" algn="l" defTabSz="3209320" rtl="0" eaLnBrk="1" latinLnBrk="0" hangingPunct="1">
        <a:defRPr sz="6317" kern="1200">
          <a:solidFill>
            <a:schemeClr val="tx1"/>
          </a:solidFill>
          <a:latin typeface="+mn-lt"/>
          <a:ea typeface="+mn-ea"/>
          <a:cs typeface="+mn-cs"/>
        </a:defRPr>
      </a:lvl7pPr>
      <a:lvl8pPr marL="11232622" algn="l" defTabSz="3209320" rtl="0" eaLnBrk="1" latinLnBrk="0" hangingPunct="1">
        <a:defRPr sz="6317" kern="1200">
          <a:solidFill>
            <a:schemeClr val="tx1"/>
          </a:solidFill>
          <a:latin typeface="+mn-lt"/>
          <a:ea typeface="+mn-ea"/>
          <a:cs typeface="+mn-cs"/>
        </a:defRPr>
      </a:lvl8pPr>
      <a:lvl9pPr marL="12837282" algn="l" defTabSz="3209320" rtl="0" eaLnBrk="1" latinLnBrk="0" hangingPunct="1">
        <a:defRPr sz="6317" kern="1200">
          <a:solidFill>
            <a:schemeClr val="tx1"/>
          </a:solidFill>
          <a:latin typeface="+mn-lt"/>
          <a:ea typeface="+mn-ea"/>
          <a:cs typeface="+mn-cs"/>
        </a:defRPr>
      </a:lvl9pPr>
    </p:otherStyle>
  </p:txStyles>
  <p:extLst>
    <p:ext uri="{27BBF7A9-308A-43DC-89C8-2F10F3537804}">
      <p15:sldGuideLst xmlns:p15="http://schemas.microsoft.com/office/powerpoint/2012/main">
        <p15:guide id="56" pos="644">
          <p15:clr>
            <a:srgbClr val="F26B43"/>
          </p15:clr>
        </p15:guide>
        <p15:guide id="66" pos="26317">
          <p15:clr>
            <a:srgbClr val="F26B43"/>
          </p15:clr>
        </p15:guide>
        <p15:guide id="67" orient="horz" pos="3684">
          <p15:clr>
            <a:srgbClr val="F26B43"/>
          </p15:clr>
        </p15:guide>
        <p15:guide id="82" orient="horz" pos="17383">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image" Target="../media/image2.png"/><Relationship Id="rId7" Type="http://schemas.openxmlformats.org/officeDocument/2006/relationships/image" Target="../media/image6.emf"/><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 name="Rectangle 315">
            <a:extLst>
              <a:ext uri="{FF2B5EF4-FFF2-40B4-BE49-F238E27FC236}">
                <a16:creationId xmlns:a16="http://schemas.microsoft.com/office/drawing/2014/main" id="{EA1F0EAE-585B-A823-7D09-C0A578606356}"/>
              </a:ext>
            </a:extLst>
          </p:cNvPr>
          <p:cNvSpPr/>
          <p:nvPr/>
        </p:nvSpPr>
        <p:spPr>
          <a:xfrm>
            <a:off x="28662350" y="21726525"/>
            <a:ext cx="13102726" cy="9715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7" name="Rectangle 316">
            <a:extLst>
              <a:ext uri="{FF2B5EF4-FFF2-40B4-BE49-F238E27FC236}">
                <a16:creationId xmlns:a16="http://schemas.microsoft.com/office/drawing/2014/main" id="{192D4326-D926-842E-E4DB-63A3D4FC226B}"/>
              </a:ext>
            </a:extLst>
          </p:cNvPr>
          <p:cNvSpPr/>
          <p:nvPr/>
        </p:nvSpPr>
        <p:spPr>
          <a:xfrm>
            <a:off x="28684755" y="13311754"/>
            <a:ext cx="13102726" cy="9715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8" name="Rectangle 307">
            <a:extLst>
              <a:ext uri="{FF2B5EF4-FFF2-40B4-BE49-F238E27FC236}">
                <a16:creationId xmlns:a16="http://schemas.microsoft.com/office/drawing/2014/main" id="{891F3E30-74D3-360A-E056-EC7DF67A0346}"/>
              </a:ext>
            </a:extLst>
          </p:cNvPr>
          <p:cNvSpPr/>
          <p:nvPr/>
        </p:nvSpPr>
        <p:spPr>
          <a:xfrm>
            <a:off x="261256" y="4970342"/>
            <a:ext cx="1323326" cy="231474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3" name="Rectangle 302">
            <a:extLst>
              <a:ext uri="{FF2B5EF4-FFF2-40B4-BE49-F238E27FC236}">
                <a16:creationId xmlns:a16="http://schemas.microsoft.com/office/drawing/2014/main" id="{B2C6835A-2621-823B-7D95-3AA7ABAB0097}"/>
              </a:ext>
            </a:extLst>
          </p:cNvPr>
          <p:cNvSpPr/>
          <p:nvPr/>
        </p:nvSpPr>
        <p:spPr>
          <a:xfrm>
            <a:off x="28667654" y="4913546"/>
            <a:ext cx="13092118" cy="9715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2" name="Rectangle 301">
            <a:extLst>
              <a:ext uri="{FF2B5EF4-FFF2-40B4-BE49-F238E27FC236}">
                <a16:creationId xmlns:a16="http://schemas.microsoft.com/office/drawing/2014/main" id="{E247B2C5-6168-08ED-9441-D3C715812E15}"/>
              </a:ext>
            </a:extLst>
          </p:cNvPr>
          <p:cNvSpPr/>
          <p:nvPr/>
        </p:nvSpPr>
        <p:spPr>
          <a:xfrm>
            <a:off x="14854235" y="4970342"/>
            <a:ext cx="13092118" cy="9715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1" name="Rectangle 300">
            <a:extLst>
              <a:ext uri="{FF2B5EF4-FFF2-40B4-BE49-F238E27FC236}">
                <a16:creationId xmlns:a16="http://schemas.microsoft.com/office/drawing/2014/main" id="{9DCF50BD-DE2B-8583-15C5-992E0298066A}"/>
              </a:ext>
            </a:extLst>
          </p:cNvPr>
          <p:cNvSpPr/>
          <p:nvPr/>
        </p:nvSpPr>
        <p:spPr>
          <a:xfrm>
            <a:off x="28674001" y="27109907"/>
            <a:ext cx="13102726" cy="9715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0" name="Rectangle 299">
            <a:extLst>
              <a:ext uri="{FF2B5EF4-FFF2-40B4-BE49-F238E27FC236}">
                <a16:creationId xmlns:a16="http://schemas.microsoft.com/office/drawing/2014/main" id="{2E97F9EC-F54B-6638-D180-E4973505E0D5}"/>
              </a:ext>
            </a:extLst>
          </p:cNvPr>
          <p:cNvSpPr/>
          <p:nvPr/>
        </p:nvSpPr>
        <p:spPr>
          <a:xfrm>
            <a:off x="14860582" y="27109907"/>
            <a:ext cx="13092118" cy="9715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8" name="Rectangle 297">
            <a:extLst>
              <a:ext uri="{FF2B5EF4-FFF2-40B4-BE49-F238E27FC236}">
                <a16:creationId xmlns:a16="http://schemas.microsoft.com/office/drawing/2014/main" id="{0228A5A9-7A04-9636-5592-1F2CA4E476C4}"/>
              </a:ext>
            </a:extLst>
          </p:cNvPr>
          <p:cNvSpPr/>
          <p:nvPr/>
        </p:nvSpPr>
        <p:spPr>
          <a:xfrm>
            <a:off x="1011437" y="27146250"/>
            <a:ext cx="13114347" cy="9715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7" name="Rectangle 296">
            <a:extLst>
              <a:ext uri="{FF2B5EF4-FFF2-40B4-BE49-F238E27FC236}">
                <a16:creationId xmlns:a16="http://schemas.microsoft.com/office/drawing/2014/main" id="{5749B7E7-108F-71FA-86D0-81981D00400E}"/>
              </a:ext>
            </a:extLst>
          </p:cNvPr>
          <p:cNvSpPr/>
          <p:nvPr/>
        </p:nvSpPr>
        <p:spPr>
          <a:xfrm>
            <a:off x="1022588" y="4970342"/>
            <a:ext cx="13109255" cy="11453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Title 28" descr="Poster title"/>
          <p:cNvSpPr>
            <a:spLocks noGrp="1"/>
          </p:cNvSpPr>
          <p:nvPr>
            <p:ph type="title"/>
          </p:nvPr>
        </p:nvSpPr>
        <p:spPr/>
        <p:txBody>
          <a:bodyPr/>
          <a:lstStyle/>
          <a:p>
            <a:r>
              <a:rPr lang="en-GB" dirty="0"/>
              <a:t>Temporal Attention Gates: Effective Tools in Time Series Crop Classification?</a:t>
            </a:r>
          </a:p>
        </p:txBody>
      </p:sp>
      <p:sp>
        <p:nvSpPr>
          <p:cNvPr id="30" name="Text Placeholder 29" descr="Authors"/>
          <p:cNvSpPr>
            <a:spLocks noGrp="1"/>
          </p:cNvSpPr>
          <p:nvPr>
            <p:ph type="body" sz="quarter" idx="10"/>
          </p:nvPr>
        </p:nvSpPr>
        <p:spPr>
          <a:xfrm>
            <a:off x="1058784" y="2439469"/>
            <a:ext cx="35504166" cy="757130"/>
          </a:xfrm>
        </p:spPr>
        <p:txBody>
          <a:bodyPr/>
          <a:lstStyle/>
          <a:p>
            <a:r>
              <a:rPr lang="en-GB" dirty="0"/>
              <a:t>Harry Fyjis-Walker</a:t>
            </a:r>
          </a:p>
        </p:txBody>
      </p:sp>
      <p:sp>
        <p:nvSpPr>
          <p:cNvPr id="34" name="Text Placeholder 33" descr="Exclusion area"/>
          <p:cNvSpPr>
            <a:spLocks noGrp="1"/>
          </p:cNvSpPr>
          <p:nvPr>
            <p:ph type="body" sz="quarter" idx="14"/>
          </p:nvPr>
        </p:nvSpPr>
        <p:spPr/>
        <p:txBody>
          <a:bodyPr/>
          <a:lstStyle/>
          <a:p>
            <a:endParaRPr lang="en-GB" dirty="0"/>
          </a:p>
        </p:txBody>
      </p:sp>
      <p:sp>
        <p:nvSpPr>
          <p:cNvPr id="36" name="Content Placeholder 35" descr="Column 1, box 1"/>
          <p:cNvSpPr>
            <a:spLocks noGrp="1"/>
          </p:cNvSpPr>
          <p:nvPr>
            <p:ph sz="quarter" idx="18"/>
          </p:nvPr>
        </p:nvSpPr>
        <p:spPr>
          <a:xfrm>
            <a:off x="326571" y="5103133"/>
            <a:ext cx="13618028" cy="7420652"/>
          </a:xfrm>
        </p:spPr>
        <p:txBody>
          <a:bodyPr/>
          <a:lstStyle/>
          <a:p>
            <a:pPr>
              <a:spcAft>
                <a:spcPts val="1000"/>
              </a:spcAft>
            </a:pPr>
            <a:r>
              <a:rPr lang="en-GB" sz="3200" b="1" dirty="0"/>
              <a:t>U-Net and Attention U-Net Baseline Replication</a:t>
            </a:r>
          </a:p>
          <a:p>
            <a:pPr marL="342900" indent="-342900" algn="just">
              <a:lnSpc>
                <a:spcPct val="100000"/>
              </a:lnSpc>
              <a:spcBef>
                <a:spcPts val="0"/>
              </a:spcBef>
              <a:buFont typeface="Arial" panose="020B0604020202020204" pitchFamily="34" charset="0"/>
              <a:buChar char="•"/>
            </a:pPr>
            <a:r>
              <a:rPr lang="en-GB" sz="2400" dirty="0"/>
              <a:t>John and Zhang (2022) demonstrated the utility of Attention Gates in semantic segmentation of deforested areas for improved monitoring by benchmarking U-Net and three other architectures against an Attention U-Net model, with the latter exhibiting superior performance.</a:t>
            </a:r>
          </a:p>
          <a:p>
            <a:pPr marL="342900" indent="-342900" algn="just">
              <a:lnSpc>
                <a:spcPct val="100000"/>
              </a:lnSpc>
              <a:spcBef>
                <a:spcPts val="0"/>
              </a:spcBef>
              <a:buFont typeface="Arial" panose="020B0604020202020204" pitchFamily="34" charset="0"/>
              <a:buChar char="•"/>
            </a:pPr>
            <a:r>
              <a:rPr lang="en-GB" sz="2400" dirty="0"/>
              <a:t>The results are replicated here for the U-Net and Attention U-Net on Bragagnolo et al. (2019)’s 3-band Amazon Rainforest dataset, showing strong reproducibility: each reproduced metric falls within 1% of the published values (Table 1).</a:t>
            </a:r>
          </a:p>
          <a:p>
            <a:endParaRPr lang="en-GB" sz="3600" dirty="0"/>
          </a:p>
          <a:p>
            <a:endParaRPr lang="en-GB" sz="3200" b="1" dirty="0"/>
          </a:p>
          <a:p>
            <a:endParaRPr lang="en-GB" sz="3200" b="1" dirty="0"/>
          </a:p>
          <a:p>
            <a:endParaRPr lang="en-GB" sz="3200" b="1" dirty="0"/>
          </a:p>
        </p:txBody>
      </p:sp>
      <p:sp>
        <p:nvSpPr>
          <p:cNvPr id="2" name="Content Placeholder 1" descr="Column 2, box 1"/>
          <p:cNvSpPr>
            <a:spLocks noGrp="1"/>
          </p:cNvSpPr>
          <p:nvPr>
            <p:ph sz="quarter" idx="16"/>
          </p:nvPr>
        </p:nvSpPr>
        <p:spPr>
          <a:xfrm>
            <a:off x="14857201" y="4970341"/>
            <a:ext cx="13042862" cy="23111116"/>
          </a:xfrm>
        </p:spPr>
        <p:txBody>
          <a:bodyPr/>
          <a:lstStyle/>
          <a:p>
            <a:pPr>
              <a:spcBef>
                <a:spcPts val="0"/>
              </a:spcBef>
              <a:spcAft>
                <a:spcPts val="1000"/>
              </a:spcAft>
            </a:pPr>
            <a:r>
              <a:rPr lang="en-GB" sz="3200" b="1" dirty="0"/>
              <a:t>BreizhCrops: Preprocessing and Adapted Model Architecture</a:t>
            </a:r>
          </a:p>
          <a:p>
            <a:pPr>
              <a:spcBef>
                <a:spcPts val="0"/>
              </a:spcBef>
            </a:pPr>
            <a:r>
              <a:rPr lang="en-GB" sz="2400" dirty="0">
                <a:latin typeface="+mn-lt"/>
              </a:rPr>
              <a:t>The BreizhCrops dataset provides a benchmark for crop classification using time-series data, comprising ~608,000 field-level L1C and L2A Sentinel-2 observations for nine crop varieties in Brittany, France between January 1 and December 31, 2017. The observations are subdivided into four regions: Côtes-d’Armor (FRH01), Finistère (FHR02), Illeet-Vilaine (FRH03), and Morhiban (FRH04).</a:t>
            </a:r>
          </a:p>
          <a:p>
            <a:pPr algn="just">
              <a:lnSpc>
                <a:spcPct val="100000"/>
              </a:lnSpc>
              <a:spcBef>
                <a:spcPts val="0"/>
              </a:spcBef>
              <a:spcAft>
                <a:spcPts val="1000"/>
              </a:spcAft>
            </a:pPr>
            <a:endParaRPr lang="en-GB" sz="2400" b="1" u="sng" dirty="0"/>
          </a:p>
          <a:p>
            <a:pPr algn="just">
              <a:lnSpc>
                <a:spcPct val="100000"/>
              </a:lnSpc>
              <a:spcBef>
                <a:spcPts val="0"/>
              </a:spcBef>
              <a:spcAft>
                <a:spcPts val="1000"/>
              </a:spcAft>
            </a:pPr>
            <a:endParaRPr lang="en-GB" sz="2400" b="1" u="sng" dirty="0"/>
          </a:p>
          <a:p>
            <a:pPr algn="just">
              <a:lnSpc>
                <a:spcPct val="100000"/>
              </a:lnSpc>
              <a:spcBef>
                <a:spcPts val="0"/>
              </a:spcBef>
              <a:spcAft>
                <a:spcPts val="1000"/>
              </a:spcAft>
            </a:pPr>
            <a:endParaRPr lang="en-GB" sz="2400" b="1" u="sng" dirty="0"/>
          </a:p>
          <a:p>
            <a:pPr algn="just">
              <a:lnSpc>
                <a:spcPct val="100000"/>
              </a:lnSpc>
              <a:spcBef>
                <a:spcPts val="0"/>
              </a:spcBef>
              <a:spcAft>
                <a:spcPts val="1000"/>
              </a:spcAft>
            </a:pPr>
            <a:endParaRPr lang="en-GB" sz="2400" b="1" u="sng" dirty="0"/>
          </a:p>
          <a:p>
            <a:pPr algn="just">
              <a:lnSpc>
                <a:spcPct val="100000"/>
              </a:lnSpc>
              <a:spcBef>
                <a:spcPts val="0"/>
              </a:spcBef>
              <a:spcAft>
                <a:spcPts val="1000"/>
              </a:spcAft>
            </a:pPr>
            <a:endParaRPr lang="en-GB" sz="2400" b="1" u="sng" dirty="0"/>
          </a:p>
          <a:p>
            <a:pPr marL="342900" indent="-342900" algn="just">
              <a:lnSpc>
                <a:spcPct val="100000"/>
              </a:lnSpc>
              <a:spcBef>
                <a:spcPts val="0"/>
              </a:spcBef>
              <a:buFont typeface="Arial" panose="020B0604020202020204" pitchFamily="34" charset="0"/>
              <a:buChar char="•"/>
            </a:pPr>
            <a:r>
              <a:rPr lang="en-GB" sz="2400" i="1" u="sng" dirty="0">
                <a:latin typeface="+mn-lt"/>
              </a:rPr>
              <a:t>L1C or L2A</a:t>
            </a:r>
            <a:r>
              <a:rPr lang="en-GB" sz="2400" i="1" dirty="0">
                <a:latin typeface="+mn-lt"/>
              </a:rPr>
              <a:t>: </a:t>
            </a:r>
            <a:r>
              <a:rPr lang="en-GB" sz="2400" dirty="0">
                <a:latin typeface="+mn-lt"/>
              </a:rPr>
              <a:t> L2A data is used here as atmospherically-corrected satellite data has been shown to improve landcover mapping tasks (Song et al., 2001).</a:t>
            </a:r>
            <a:endParaRPr lang="en-GB" sz="2400" i="1" dirty="0">
              <a:latin typeface="+mn-lt"/>
            </a:endParaRPr>
          </a:p>
          <a:p>
            <a:pPr marL="342900" indent="-342900" algn="just">
              <a:lnSpc>
                <a:spcPct val="100000"/>
              </a:lnSpc>
              <a:spcBef>
                <a:spcPts val="0"/>
              </a:spcBef>
              <a:buFont typeface="Arial" panose="020B0604020202020204" pitchFamily="34" charset="0"/>
              <a:buChar char="•"/>
            </a:pPr>
            <a:r>
              <a:rPr lang="en-GB" sz="2400" i="1" u="sng" dirty="0">
                <a:latin typeface="+mn-lt"/>
              </a:rPr>
              <a:t>Splitting</a:t>
            </a:r>
            <a:r>
              <a:rPr lang="en-GB" sz="2400" i="1" dirty="0">
                <a:latin typeface="+mn-lt"/>
              </a:rPr>
              <a:t>: </a:t>
            </a:r>
            <a:r>
              <a:rPr lang="en-GB" sz="2400" dirty="0">
                <a:latin typeface="+mn-lt"/>
              </a:rPr>
              <a:t>Training (FRH01 and FRH02), Validation (FRH03), and Testing (FRH04) sets are separated geographically to avoid spatial leakage (Rußwurm et al., 2019).</a:t>
            </a:r>
          </a:p>
          <a:p>
            <a:pPr marL="342900" indent="-342900" algn="just">
              <a:lnSpc>
                <a:spcPct val="100000"/>
              </a:lnSpc>
              <a:spcBef>
                <a:spcPts val="0"/>
              </a:spcBef>
              <a:buFont typeface="Arial" panose="020B0604020202020204" pitchFamily="34" charset="0"/>
              <a:buChar char="•"/>
            </a:pPr>
            <a:r>
              <a:rPr lang="en-GB" sz="2400" i="1" u="sng" dirty="0">
                <a:latin typeface="+mn-lt"/>
              </a:rPr>
              <a:t>Imbalance Treatment</a:t>
            </a:r>
            <a:r>
              <a:rPr lang="en-GB" sz="2400" i="1" dirty="0">
                <a:latin typeface="+mn-lt"/>
              </a:rPr>
              <a:t>: </a:t>
            </a:r>
            <a:r>
              <a:rPr lang="en-GB" sz="2400" dirty="0">
                <a:latin typeface="+mn-lt"/>
              </a:rPr>
              <a:t>Initial tests indicated complete classification failure on the three smallest classes. To mitigate this, within the training set, Orchards are oversampled using OHIT (Zhu et al., 2022), static feature augmentation is applied to nuts and sunflowers, and the remaining classes are randomly downsampled to ~3,200 samples each. For robust evaluation on real-world, imbalanced data, random stratified downsampling is used to draw down the validation set to 6,000, and the test set is left unchanged.</a:t>
            </a:r>
          </a:p>
          <a:p>
            <a:pPr marL="342900" indent="-342900" algn="just">
              <a:lnSpc>
                <a:spcPct val="100000"/>
              </a:lnSpc>
              <a:spcBef>
                <a:spcPts val="0"/>
              </a:spcBef>
              <a:buFont typeface="Arial" panose="020B0604020202020204" pitchFamily="34" charset="0"/>
              <a:buChar char="•"/>
            </a:pPr>
            <a:r>
              <a:rPr lang="en-GB" sz="2400" i="1" u="sng" dirty="0">
                <a:latin typeface="+mn-lt"/>
              </a:rPr>
              <a:t>Feature Engineering and Sequence Length</a:t>
            </a:r>
            <a:r>
              <a:rPr lang="en-GB" sz="2400" dirty="0">
                <a:latin typeface="+mn-lt"/>
              </a:rPr>
              <a:t>: Previous work demonstrated optimal performance on BreizhCrops with 13 Vegetation Indices (VIs) and a sequence length of 50 (Yuan et al., 2023); these findings are adopted here, with a sequence length of 48 used to ensure compatibility with the Attention U-Net structure.</a:t>
            </a:r>
          </a:p>
          <a:p>
            <a:pPr marL="342900" indent="-342900" algn="just">
              <a:lnSpc>
                <a:spcPct val="100000"/>
              </a:lnSpc>
              <a:spcBef>
                <a:spcPts val="0"/>
              </a:spcBef>
              <a:buFont typeface="Arial" panose="020B0604020202020204" pitchFamily="34" charset="0"/>
              <a:buChar char="•"/>
            </a:pPr>
            <a:r>
              <a:rPr lang="en-GB" sz="2400" i="1" u="sng" dirty="0">
                <a:latin typeface="+mn-lt"/>
              </a:rPr>
              <a:t>Masking and Interpolation</a:t>
            </a:r>
            <a:r>
              <a:rPr lang="en-GB" sz="2400" i="1" dirty="0">
                <a:latin typeface="+mn-lt"/>
              </a:rPr>
              <a:t>: </a:t>
            </a:r>
            <a:r>
              <a:rPr lang="en-GB" sz="2400" dirty="0">
                <a:latin typeface="+mn-lt"/>
              </a:rPr>
              <a:t>Linear interpolation and Svatizy-Golay filtering are employed as a standard approach to mitigate the effects of positive outliers due to clouds and shadows. To retain information on whether a sample point is real or interpolated, an imputation mask is generated (1 = measured, 0 = missing) and concatenated to the feature vector</a:t>
            </a:r>
          </a:p>
          <a:p>
            <a:pPr marL="342900" indent="-342900" algn="just">
              <a:lnSpc>
                <a:spcPct val="100000"/>
              </a:lnSpc>
              <a:spcBef>
                <a:spcPts val="0"/>
              </a:spcBef>
              <a:buFont typeface="Arial" panose="020B0604020202020204" pitchFamily="34" charset="0"/>
              <a:buChar char="•"/>
            </a:pPr>
            <a:r>
              <a:rPr lang="en-GB" sz="2400" i="1" u="sng" dirty="0">
                <a:latin typeface="+mn-lt"/>
              </a:rPr>
              <a:t>Standardisation</a:t>
            </a:r>
            <a:r>
              <a:rPr lang="en-GB" sz="2400" dirty="0">
                <a:latin typeface="+mn-lt"/>
              </a:rPr>
              <a:t>: RobustScaler, resilient to skew and effective in handling outliers, is selected to standardise the non-Gaussian, skewed, and noisy reflectance Sentinel 2 data.</a:t>
            </a:r>
            <a:endParaRPr lang="en-GB" sz="2400" i="1" dirty="0">
              <a:latin typeface="+mn-lt"/>
            </a:endParaRPr>
          </a:p>
          <a:p>
            <a:pPr algn="just">
              <a:lnSpc>
                <a:spcPct val="100000"/>
              </a:lnSpc>
              <a:spcBef>
                <a:spcPts val="0"/>
              </a:spcBef>
            </a:pPr>
            <a:endParaRPr lang="en-GB" sz="2400" i="1" dirty="0"/>
          </a:p>
          <a:p>
            <a:pPr algn="just">
              <a:lnSpc>
                <a:spcPct val="100000"/>
              </a:lnSpc>
              <a:spcBef>
                <a:spcPts val="0"/>
              </a:spcBef>
            </a:pPr>
            <a:endParaRPr lang="en-GB" sz="2400" i="1" dirty="0"/>
          </a:p>
          <a:p>
            <a:pPr algn="just">
              <a:lnSpc>
                <a:spcPct val="100000"/>
              </a:lnSpc>
              <a:spcBef>
                <a:spcPts val="0"/>
              </a:spcBef>
            </a:pPr>
            <a:endParaRPr lang="en-GB" sz="2400" i="1" dirty="0"/>
          </a:p>
          <a:p>
            <a:pPr algn="just">
              <a:lnSpc>
                <a:spcPct val="100000"/>
              </a:lnSpc>
              <a:spcBef>
                <a:spcPts val="0"/>
              </a:spcBef>
            </a:pPr>
            <a:endParaRPr lang="en-GB" sz="2400" i="1" dirty="0"/>
          </a:p>
          <a:p>
            <a:pPr algn="just">
              <a:lnSpc>
                <a:spcPct val="100000"/>
              </a:lnSpc>
              <a:spcBef>
                <a:spcPts val="0"/>
              </a:spcBef>
            </a:pPr>
            <a:endParaRPr lang="en-GB" sz="2400" i="1" dirty="0"/>
          </a:p>
          <a:p>
            <a:pPr algn="just">
              <a:lnSpc>
                <a:spcPct val="100000"/>
              </a:lnSpc>
              <a:spcBef>
                <a:spcPts val="0"/>
              </a:spcBef>
            </a:pPr>
            <a:endParaRPr lang="en-GB" sz="2400" dirty="0"/>
          </a:p>
          <a:p>
            <a:pPr algn="just">
              <a:lnSpc>
                <a:spcPct val="100000"/>
              </a:lnSpc>
              <a:spcBef>
                <a:spcPts val="0"/>
              </a:spcBef>
            </a:pPr>
            <a:endParaRPr lang="en-GB" sz="2400" dirty="0"/>
          </a:p>
          <a:p>
            <a:pPr algn="just">
              <a:lnSpc>
                <a:spcPct val="100000"/>
              </a:lnSpc>
              <a:spcBef>
                <a:spcPts val="0"/>
              </a:spcBef>
            </a:pPr>
            <a:endParaRPr lang="en-GB" sz="2400" dirty="0"/>
          </a:p>
          <a:p>
            <a:pPr algn="just">
              <a:lnSpc>
                <a:spcPct val="100000"/>
              </a:lnSpc>
              <a:spcBef>
                <a:spcPts val="0"/>
              </a:spcBef>
            </a:pPr>
            <a:endParaRPr lang="en-GB" sz="2400" dirty="0"/>
          </a:p>
          <a:p>
            <a:pPr algn="just">
              <a:lnSpc>
                <a:spcPct val="100000"/>
              </a:lnSpc>
              <a:spcBef>
                <a:spcPts val="0"/>
              </a:spcBef>
            </a:pPr>
            <a:endParaRPr lang="en-GB" sz="2400" dirty="0"/>
          </a:p>
          <a:p>
            <a:pPr algn="just">
              <a:lnSpc>
                <a:spcPct val="100000"/>
              </a:lnSpc>
              <a:spcBef>
                <a:spcPts val="0"/>
              </a:spcBef>
            </a:pPr>
            <a:endParaRPr lang="en-GB" sz="2400" dirty="0"/>
          </a:p>
          <a:p>
            <a:pPr algn="just">
              <a:lnSpc>
                <a:spcPct val="100000"/>
              </a:lnSpc>
              <a:spcBef>
                <a:spcPts val="0"/>
              </a:spcBef>
            </a:pPr>
            <a:endParaRPr lang="en-GB" sz="2400" dirty="0"/>
          </a:p>
          <a:p>
            <a:pPr algn="just">
              <a:lnSpc>
                <a:spcPct val="100000"/>
              </a:lnSpc>
              <a:spcBef>
                <a:spcPts val="0"/>
              </a:spcBef>
            </a:pPr>
            <a:endParaRPr lang="en-GB" sz="2400" dirty="0"/>
          </a:p>
          <a:p>
            <a:pPr algn="just">
              <a:lnSpc>
                <a:spcPct val="100000"/>
              </a:lnSpc>
              <a:spcBef>
                <a:spcPts val="0"/>
              </a:spcBef>
            </a:pPr>
            <a:endParaRPr lang="en-GB" sz="2400" dirty="0"/>
          </a:p>
          <a:p>
            <a:pPr algn="just">
              <a:lnSpc>
                <a:spcPct val="100000"/>
              </a:lnSpc>
              <a:spcBef>
                <a:spcPts val="0"/>
              </a:spcBef>
            </a:pPr>
            <a:endParaRPr lang="en-GB" sz="2400" dirty="0"/>
          </a:p>
          <a:p>
            <a:pPr marL="342900" indent="-342900" algn="just">
              <a:lnSpc>
                <a:spcPct val="100000"/>
              </a:lnSpc>
              <a:spcBef>
                <a:spcPts val="0"/>
              </a:spcBef>
              <a:buFont typeface="Arial" panose="020B0604020202020204" pitchFamily="34" charset="0"/>
              <a:buChar char="•"/>
            </a:pPr>
            <a:r>
              <a:rPr lang="en-GB" sz="2400" i="1" u="sng" dirty="0">
                <a:latin typeface="+mn-lt"/>
              </a:rPr>
              <a:t>Architectural Adaptations</a:t>
            </a:r>
            <a:r>
              <a:rPr lang="en-GB" sz="2400" i="1" dirty="0">
                <a:latin typeface="+mn-lt"/>
              </a:rPr>
              <a:t>: </a:t>
            </a:r>
            <a:r>
              <a:rPr lang="en-GB" sz="2400" dirty="0">
                <a:latin typeface="+mn-lt"/>
              </a:rPr>
              <a:t>Conv2D, Conv2DTranpose, MaxPooling2D and Upsampling2D replaced with 1D counterparts; input shape changed from a spatial image format to a temporal sequence format, representing (48, 25) (Time Steps x Features).</a:t>
            </a:r>
          </a:p>
          <a:p>
            <a:pPr marL="342900" indent="-342900" algn="just">
              <a:lnSpc>
                <a:spcPct val="100000"/>
              </a:lnSpc>
              <a:spcBef>
                <a:spcPts val="0"/>
              </a:spcBef>
              <a:buFont typeface="Arial" panose="020B0604020202020204" pitchFamily="34" charset="0"/>
              <a:buChar char="•"/>
            </a:pPr>
            <a:r>
              <a:rPr lang="en-GB" sz="2400" dirty="0">
                <a:latin typeface="+mn-lt"/>
              </a:rPr>
              <a:t>Attention-block re-implemented as TemporalAttentionGate (TAG) to shift model focus from local spatial context to phenologically relevant time steps; BatchNormalisation layers added after each convolution to improve gradient flow and training stability; temporal mismatch between encoder skip connections and decoder upsampling addressed using a Cropping1D layer and a STATIC_CROPPING_MAP. </a:t>
            </a:r>
          </a:p>
          <a:p>
            <a:pPr marL="342900" indent="-342900" algn="just">
              <a:lnSpc>
                <a:spcPct val="100000"/>
              </a:lnSpc>
              <a:spcBef>
                <a:spcPts val="0"/>
              </a:spcBef>
              <a:buFont typeface="Arial" panose="020B0604020202020204" pitchFamily="34" charset="0"/>
              <a:buChar char="•"/>
            </a:pPr>
            <a:r>
              <a:rPr lang="en-GB" sz="2400" dirty="0">
                <a:latin typeface="+mn-lt"/>
              </a:rPr>
              <a:t>Final output layer count changed to NUM_CLASSES = 9, with Sigmoid activation changed to Softmax to allow multi-class classification.</a:t>
            </a:r>
            <a:endParaRPr lang="en-GB" sz="2400" u="sng" dirty="0">
              <a:latin typeface="+mn-lt"/>
            </a:endParaRPr>
          </a:p>
          <a:p>
            <a:pPr marL="342900" indent="-342900" algn="just">
              <a:lnSpc>
                <a:spcPct val="100000"/>
              </a:lnSpc>
              <a:spcBef>
                <a:spcPts val="0"/>
              </a:spcBef>
              <a:buFont typeface="Arial" panose="020B0604020202020204" pitchFamily="34" charset="0"/>
              <a:buChar char="•"/>
            </a:pPr>
            <a:r>
              <a:rPr lang="en-GB" sz="2400" i="1" u="sng" dirty="0">
                <a:latin typeface="+mn-lt"/>
              </a:rPr>
              <a:t>Configuration</a:t>
            </a:r>
            <a:r>
              <a:rPr lang="en-GB" sz="2400" i="1" dirty="0">
                <a:latin typeface="+mn-lt"/>
              </a:rPr>
              <a:t>: </a:t>
            </a:r>
            <a:r>
              <a:rPr lang="en-GB" sz="2400" dirty="0">
                <a:latin typeface="+mn-lt"/>
              </a:rPr>
              <a:t>Macro-Dice Loss (effectively handles discrepancies in balance between training and validation sets and does not neglect minority classes (Farhadpour et al., 2019)); AdamW optimisation (superior to Adam for time series (Llugsi et al., 2021)); He initialisation; 40% dropout (Rußwurm et al. (2019)); Bayesian optimisation employed to intelligently tune Batch Size {32,64,128}, Learning Rate {10</a:t>
            </a:r>
            <a:r>
              <a:rPr lang="en-GB" sz="2400" baseline="30000" dirty="0">
                <a:latin typeface="+mn-lt"/>
              </a:rPr>
              <a:t>-5</a:t>
            </a:r>
            <a:r>
              <a:rPr lang="en-GB" sz="2400" dirty="0">
                <a:latin typeface="+mn-lt"/>
              </a:rPr>
              <a:t>,10</a:t>
            </a:r>
            <a:r>
              <a:rPr lang="en-GB" sz="2400" baseline="30000" dirty="0">
                <a:latin typeface="+mn-lt"/>
              </a:rPr>
              <a:t>-3</a:t>
            </a:r>
            <a:r>
              <a:rPr lang="en-GB" sz="2400" dirty="0">
                <a:latin typeface="+mn-lt"/>
              </a:rPr>
              <a:t>}, and Weight Decay {10</a:t>
            </a:r>
            <a:r>
              <a:rPr lang="en-GB" sz="2400" baseline="30000" dirty="0">
                <a:latin typeface="+mn-lt"/>
              </a:rPr>
              <a:t>-8</a:t>
            </a:r>
            <a:r>
              <a:rPr lang="en-GB" sz="2400" dirty="0">
                <a:latin typeface="+mn-lt"/>
              </a:rPr>
              <a:t>,10</a:t>
            </a:r>
            <a:r>
              <a:rPr lang="en-GB" sz="2400" baseline="30000" dirty="0">
                <a:latin typeface="+mn-lt"/>
              </a:rPr>
              <a:t>-4</a:t>
            </a:r>
            <a:r>
              <a:rPr lang="en-GB" sz="2400" dirty="0">
                <a:latin typeface="+mn-lt"/>
              </a:rPr>
              <a:t>}; 50 epochs.</a:t>
            </a:r>
            <a:r>
              <a:rPr lang="en-GB" sz="2400" dirty="0"/>
              <a:t>	</a:t>
            </a:r>
            <a:endParaRPr lang="en-GB" dirty="0"/>
          </a:p>
          <a:p>
            <a:endParaRPr lang="en-GB" sz="2400" dirty="0"/>
          </a:p>
          <a:p>
            <a:endParaRPr lang="en-GB" dirty="0"/>
          </a:p>
          <a:p>
            <a:endParaRPr lang="en-GB" dirty="0"/>
          </a:p>
          <a:p>
            <a:endParaRPr lang="en-GB" sz="3200" b="1" dirty="0"/>
          </a:p>
          <a:p>
            <a:endParaRPr lang="en-GB" sz="3200" b="1" dirty="0"/>
          </a:p>
          <a:p>
            <a:endParaRPr lang="en-GB" sz="3200" b="1" dirty="0"/>
          </a:p>
          <a:p>
            <a:endParaRPr lang="en-GB" sz="3200" b="1" dirty="0"/>
          </a:p>
          <a:p>
            <a:endParaRPr lang="en-GB" sz="3200" b="1" dirty="0"/>
          </a:p>
          <a:p>
            <a:endParaRPr lang="en-GB" sz="3200" b="1" dirty="0"/>
          </a:p>
          <a:p>
            <a:endParaRPr lang="en-GB" sz="3200" b="1" dirty="0"/>
          </a:p>
          <a:p>
            <a:endParaRPr lang="en-GB" sz="3200" b="1" dirty="0"/>
          </a:p>
        </p:txBody>
      </p:sp>
      <p:sp>
        <p:nvSpPr>
          <p:cNvPr id="35" name="Content Placeholder 34" descr="Column 3, box 1"/>
          <p:cNvSpPr>
            <a:spLocks noGrp="1"/>
          </p:cNvSpPr>
          <p:nvPr>
            <p:ph sz="quarter" idx="17"/>
          </p:nvPr>
        </p:nvSpPr>
        <p:spPr>
          <a:xfrm>
            <a:off x="28632118" y="4970342"/>
            <a:ext cx="13145882" cy="23147458"/>
          </a:xfrm>
        </p:spPr>
        <p:txBody>
          <a:bodyPr/>
          <a:lstStyle/>
          <a:p>
            <a:pPr>
              <a:spcBef>
                <a:spcPts val="0"/>
              </a:spcBef>
              <a:spcAft>
                <a:spcPts val="1000"/>
              </a:spcAft>
            </a:pPr>
            <a:r>
              <a:rPr lang="en-GB" sz="3200" b="1" dirty="0"/>
              <a:t>Metric Choice and Ablation Studies</a:t>
            </a:r>
          </a:p>
          <a:p>
            <a:pPr>
              <a:spcBef>
                <a:spcPts val="0"/>
              </a:spcBef>
              <a:spcAft>
                <a:spcPts val="1000"/>
              </a:spcAft>
            </a:pPr>
            <a:r>
              <a:rPr lang="en-GB" sz="2400" u="sng" dirty="0"/>
              <a:t>Metric Choice</a:t>
            </a:r>
            <a:r>
              <a:rPr lang="en-GB" sz="2400" dirty="0"/>
              <a:t>: Metrics choice is guided by the need to ensure comparability with both the baseline study and crop-classification literature, while maintaining consistency the use of the Macro-Dice loss function. Multiclass Macro-F1 is adopted as the core metric, reflecting both the class-balanced nature of the loss function and the imbalanced distribution of the validation and test data. Per-Class Precision, Recall, and F1-Score are calculated to align with the deforestation baseline, while Overall Accuracy, Average Accuracy, Weighted F-score and Kappa to allow comparison to previous models using BreizhCrops data.</a:t>
            </a:r>
          </a:p>
          <a:p>
            <a:pPr>
              <a:spcBef>
                <a:spcPts val="0"/>
              </a:spcBef>
            </a:pPr>
            <a:r>
              <a:rPr lang="en-GB" sz="2400" u="sng" dirty="0"/>
              <a:t>Ablation Studies</a:t>
            </a:r>
            <a:r>
              <a:rPr lang="en-GB" sz="2400" dirty="0"/>
              <a:t>: Initial performance is poor; ablation studies allow elucidation of key issues.</a:t>
            </a:r>
          </a:p>
          <a:p>
            <a:pPr>
              <a:spcBef>
                <a:spcPts val="0"/>
              </a:spcBef>
            </a:pPr>
            <a:endParaRPr lang="en-GB" sz="2400" dirty="0"/>
          </a:p>
          <a:p>
            <a:pPr>
              <a:spcBef>
                <a:spcPts val="0"/>
              </a:spcBef>
            </a:pPr>
            <a:endParaRPr lang="en-GB" sz="2400" dirty="0"/>
          </a:p>
          <a:p>
            <a:pPr>
              <a:spcBef>
                <a:spcPts val="0"/>
              </a:spcBef>
            </a:pPr>
            <a:endParaRPr lang="en-GB" sz="2400" dirty="0"/>
          </a:p>
          <a:p>
            <a:pPr>
              <a:spcBef>
                <a:spcPts val="0"/>
              </a:spcBef>
            </a:pPr>
            <a:endParaRPr lang="en-GB" sz="2400" dirty="0"/>
          </a:p>
          <a:p>
            <a:pPr marL="342900" indent="-342900">
              <a:spcBef>
                <a:spcPts val="0"/>
              </a:spcBef>
              <a:spcAft>
                <a:spcPts val="300"/>
              </a:spcAft>
              <a:buFont typeface="Arial" panose="020B0604020202020204" pitchFamily="34" charset="0"/>
              <a:buChar char="•"/>
            </a:pPr>
            <a:r>
              <a:rPr lang="en-GB" sz="2400" i="1" dirty="0"/>
              <a:t>A) Introduction of Inverse Frequency Class Weighting: </a:t>
            </a:r>
            <a:r>
              <a:rPr lang="en-GB" sz="2400" dirty="0"/>
              <a:t>Tested to mitigate the poor classification of minority classes; exhibits minor improvements to Orchards and Rapeseed, but is detrimental to performance on more common classes </a:t>
            </a:r>
            <a:r>
              <a:rPr lang="en-GB" sz="2400" b="1" dirty="0"/>
              <a:t>(Test Macro F1 = 0.2226)</a:t>
            </a:r>
          </a:p>
          <a:p>
            <a:pPr marL="342900" indent="-342900">
              <a:spcBef>
                <a:spcPts val="0"/>
              </a:spcBef>
              <a:spcAft>
                <a:spcPts val="300"/>
              </a:spcAft>
              <a:buFont typeface="Arial" panose="020B0604020202020204" pitchFamily="34" charset="0"/>
              <a:buChar char="•"/>
            </a:pPr>
            <a:r>
              <a:rPr lang="en-GB" sz="2400" i="1" dirty="0"/>
              <a:t>B) Sampling methods: </a:t>
            </a:r>
            <a:r>
              <a:rPr lang="en-GB" sz="2400" dirty="0"/>
              <a:t>Imbalanced training set (random stratified subsampling) used  to analyse whether prediction bias introduced by aggressive under- and oversampling is detrimental to the model; imbalance necessitates a change in loss function (Weighted Cross-Entropy). Observed that balancing benefits performance </a:t>
            </a:r>
            <a:r>
              <a:rPr lang="en-GB" sz="2400" b="1" dirty="0"/>
              <a:t>(Test Macro F1 = 0.1712)</a:t>
            </a:r>
          </a:p>
          <a:p>
            <a:pPr marL="342900" indent="-342900">
              <a:spcBef>
                <a:spcPts val="0"/>
              </a:spcBef>
              <a:spcAft>
                <a:spcPts val="300"/>
              </a:spcAft>
              <a:buFont typeface="Arial" panose="020B0604020202020204" pitchFamily="34" charset="0"/>
              <a:buChar char="•"/>
            </a:pPr>
            <a:r>
              <a:rPr lang="en-GB" sz="2400" i="1" dirty="0"/>
              <a:t>C) Feature Selection: </a:t>
            </a:r>
            <a:r>
              <a:rPr lang="en-GB" sz="2400" dirty="0"/>
              <a:t>Mutual Information scores coupled with Sequential Forward Selection highlights MTVI2 (defined in Github .pdf) as the most predictive feature; additional VIs here do not offer significant improvement and are removed (</a:t>
            </a:r>
            <a:r>
              <a:rPr lang="en-GB" sz="2400" b="1" dirty="0"/>
              <a:t>Validation Macro F1 = 0.2626)</a:t>
            </a:r>
          </a:p>
          <a:p>
            <a:pPr marL="342900" indent="-342900">
              <a:spcBef>
                <a:spcPts val="0"/>
              </a:spcBef>
              <a:spcAft>
                <a:spcPts val="300"/>
              </a:spcAft>
              <a:buFont typeface="Arial" panose="020B0604020202020204" pitchFamily="34" charset="0"/>
              <a:buChar char="•"/>
            </a:pPr>
            <a:r>
              <a:rPr lang="en-GB" sz="2400" i="1" dirty="0"/>
              <a:t>D) Unscaling MTVI2: </a:t>
            </a:r>
            <a:r>
              <a:rPr lang="en-GB" sz="2400" dirty="0"/>
              <a:t>Reflectance bands were initially scaled before calculation of VIs; despite this diminishing their physical interpretability, it was assumed that scaling was necessary for faster convergence and avoidance of saturation. However, calculation of MTVI2 prior to scaling shows large improvement </a:t>
            </a:r>
            <a:r>
              <a:rPr lang="en-GB" sz="2400" b="1" dirty="0"/>
              <a:t>(Test Macro F1 = 0.3456), </a:t>
            </a:r>
            <a:r>
              <a:rPr lang="en-GB" sz="2400" dirty="0"/>
              <a:t>suggesting that model performance benefits do not outweigh the cost of lost interpretability.</a:t>
            </a:r>
            <a:endParaRPr lang="en-GB" sz="2400" b="1" dirty="0"/>
          </a:p>
          <a:p>
            <a:pPr>
              <a:spcBef>
                <a:spcPts val="0"/>
              </a:spcBef>
              <a:spcAft>
                <a:spcPts val="1000"/>
              </a:spcAft>
            </a:pPr>
            <a:r>
              <a:rPr lang="en-GB" sz="3200" b="1" dirty="0"/>
              <a:t>Evaluation of Improved Model against U-Net and Conclusions</a:t>
            </a:r>
          </a:p>
          <a:p>
            <a:pPr>
              <a:spcBef>
                <a:spcPts val="0"/>
              </a:spcBef>
              <a:spcAft>
                <a:spcPts val="600"/>
              </a:spcAft>
            </a:pPr>
            <a:endParaRPr lang="en-GB" sz="2400" i="1" dirty="0"/>
          </a:p>
          <a:p>
            <a:pPr>
              <a:spcBef>
                <a:spcPts val="0"/>
              </a:spcBef>
              <a:spcAft>
                <a:spcPts val="600"/>
              </a:spcAft>
            </a:pPr>
            <a:endParaRPr lang="en-GB" sz="2400" i="1" dirty="0"/>
          </a:p>
          <a:p>
            <a:pPr>
              <a:spcBef>
                <a:spcPts val="0"/>
              </a:spcBef>
              <a:spcAft>
                <a:spcPts val="600"/>
              </a:spcAft>
            </a:pPr>
            <a:endParaRPr lang="en-GB" sz="2400" i="1" dirty="0"/>
          </a:p>
          <a:p>
            <a:pPr>
              <a:spcBef>
                <a:spcPts val="0"/>
              </a:spcBef>
              <a:spcAft>
                <a:spcPts val="600"/>
              </a:spcAft>
            </a:pPr>
            <a:endParaRPr lang="en-GB" sz="2400" i="1" dirty="0"/>
          </a:p>
          <a:p>
            <a:pPr>
              <a:spcBef>
                <a:spcPts val="0"/>
              </a:spcBef>
              <a:spcAft>
                <a:spcPts val="600"/>
              </a:spcAft>
            </a:pPr>
            <a:endParaRPr lang="en-GB" sz="2400" i="1" dirty="0"/>
          </a:p>
          <a:p>
            <a:pPr>
              <a:spcBef>
                <a:spcPts val="0"/>
              </a:spcBef>
              <a:spcAft>
                <a:spcPts val="600"/>
              </a:spcAft>
            </a:pPr>
            <a:endParaRPr lang="en-GB" sz="2400" i="1" dirty="0"/>
          </a:p>
          <a:p>
            <a:pPr>
              <a:spcBef>
                <a:spcPts val="0"/>
              </a:spcBef>
              <a:spcAft>
                <a:spcPts val="600"/>
              </a:spcAft>
            </a:pPr>
            <a:endParaRPr lang="en-GB" sz="2400" i="1" dirty="0"/>
          </a:p>
          <a:p>
            <a:pPr>
              <a:spcBef>
                <a:spcPts val="0"/>
              </a:spcBef>
              <a:spcAft>
                <a:spcPts val="600"/>
              </a:spcAft>
            </a:pPr>
            <a:endParaRPr lang="en-GB" sz="2400" i="1" dirty="0"/>
          </a:p>
          <a:p>
            <a:pPr>
              <a:spcBef>
                <a:spcPts val="0"/>
              </a:spcBef>
              <a:spcAft>
                <a:spcPts val="600"/>
              </a:spcAft>
            </a:pPr>
            <a:endParaRPr lang="en-GB" sz="2400" i="1" dirty="0"/>
          </a:p>
          <a:p>
            <a:pPr>
              <a:spcBef>
                <a:spcPts val="0"/>
              </a:spcBef>
              <a:spcAft>
                <a:spcPts val="600"/>
              </a:spcAft>
            </a:pPr>
            <a:endParaRPr lang="en-GB" sz="2400" i="1" dirty="0"/>
          </a:p>
          <a:p>
            <a:pPr marL="342900" indent="-342900">
              <a:spcBef>
                <a:spcPts val="0"/>
              </a:spcBef>
              <a:buFont typeface="Arial" panose="020B0604020202020204" pitchFamily="34" charset="0"/>
              <a:buChar char="•"/>
            </a:pPr>
            <a:r>
              <a:rPr lang="en-GB" sz="2400" dirty="0"/>
              <a:t>Low recall key to the reduced performance of Attention U-Net; exhibits similar precision to U-Net, but is overly cautious, resulting in a far higher rate of false negatives (drastic for Barley and Corn). Both models show complete failure on minority class classification, indicating the need for more aggressive oversampling approaches.</a:t>
            </a:r>
          </a:p>
          <a:p>
            <a:pPr marL="342900" indent="-342900">
              <a:spcBef>
                <a:spcPts val="0"/>
              </a:spcBef>
              <a:buFont typeface="Arial" panose="020B0604020202020204" pitchFamily="34" charset="0"/>
              <a:buChar char="•"/>
            </a:pPr>
            <a:r>
              <a:rPr lang="en-GB" sz="2400" dirty="0"/>
              <a:t>Plotting attention weights against the MTVI2 curve (see COMP0173_Write_Up) reveals inconsistent alignment with phenological patterns. It is possible that the TAGs are over-filtering important low-level phenological features, while the additional trainable parameters and more complex loss landscape may outweigh any gains from feature refinement.</a:t>
            </a:r>
          </a:p>
          <a:p>
            <a:pPr marL="342900" indent="-342900">
              <a:spcBef>
                <a:spcPts val="0"/>
              </a:spcBef>
              <a:buFont typeface="Arial" panose="020B0604020202020204" pitchFamily="34" charset="0"/>
              <a:buChar char="•"/>
            </a:pPr>
            <a:r>
              <a:rPr lang="en-GB" sz="2400" dirty="0"/>
              <a:t>More generally, performance is drastically inferior to the baseline (and to performance of LSTMs, Transformers, and RNNs on this dataset (which achieve OAs of ~0.8 (</a:t>
            </a:r>
            <a:r>
              <a:rPr lang="en-GB" sz="2400" dirty="0" err="1"/>
              <a:t>BreizhCrops.org</a:t>
            </a:r>
            <a:r>
              <a:rPr lang="en-GB" sz="2400" dirty="0"/>
              <a:t>)). The baseline 2D convolutional structure and skip connections clearly excel at retaining spatial localisation and context; it is possible that localised nature of the 1D convolutions prevent the 1D U-Net from successfully capturing the long-range temporal dependencies needed to discriminate between full-season phenological curves. </a:t>
            </a:r>
          </a:p>
          <a:p>
            <a:pPr>
              <a:spcBef>
                <a:spcPts val="0"/>
              </a:spcBef>
              <a:spcAft>
                <a:spcPts val="600"/>
              </a:spcAft>
            </a:pPr>
            <a:r>
              <a:rPr lang="en-GB" sz="3200" b="1" dirty="0"/>
              <a:t>Ethical Considerations (SDG 10 and 16 Inhibition)</a:t>
            </a:r>
            <a:endParaRPr lang="en-GB" sz="2400" dirty="0"/>
          </a:p>
          <a:p>
            <a:pPr marL="342900" indent="-342900">
              <a:spcBef>
                <a:spcPts val="0"/>
              </a:spcBef>
              <a:buFont typeface="Arial" panose="020B0604020202020204" pitchFamily="34" charset="0"/>
              <a:buChar char="•"/>
            </a:pPr>
            <a:r>
              <a:rPr lang="en-GB" sz="2400" i="1" u="sng" dirty="0"/>
              <a:t>Representation Bias</a:t>
            </a:r>
            <a:r>
              <a:rPr lang="en-GB" sz="2400" u="sng" dirty="0"/>
              <a:t>: </a:t>
            </a:r>
            <a:r>
              <a:rPr lang="en-GB" sz="2400" dirty="0"/>
              <a:t>Crop-type datasets are generally highly imbalanced. Predictive models may this amplify bias – risks marginalising growers of less common crops</a:t>
            </a:r>
            <a:r>
              <a:rPr lang="en-GB" sz="2400" i="1" dirty="0"/>
              <a:t> </a:t>
            </a:r>
            <a:r>
              <a:rPr lang="en-GB" sz="2400" dirty="0"/>
              <a:t>if models are used to evaluate government subsidies (as with </a:t>
            </a:r>
            <a:r>
              <a:rPr lang="en-GB" sz="2400" dirty="0" err="1"/>
              <a:t>BreizhCrops</a:t>
            </a:r>
            <a:r>
              <a:rPr lang="en-GB" sz="2400" dirty="0"/>
              <a:t>) or to provide agronomic advice</a:t>
            </a:r>
          </a:p>
          <a:p>
            <a:pPr marL="342900" indent="-342900">
              <a:spcBef>
                <a:spcPts val="0"/>
              </a:spcBef>
              <a:buFont typeface="Arial" panose="020B0604020202020204" pitchFamily="34" charset="0"/>
              <a:buChar char="•"/>
            </a:pPr>
            <a:r>
              <a:rPr lang="en-GB" sz="2400" i="1" u="sng" dirty="0"/>
              <a:t>Explainability and Resource-Efficiency: </a:t>
            </a:r>
            <a:r>
              <a:rPr lang="en-GB" sz="2400" dirty="0"/>
              <a:t>Neural networks (NN) are computationally demanding (for transferability to low-resource settings, techniques such as model quantisation may be considered) and considered </a:t>
            </a:r>
            <a:r>
              <a:rPr lang="en-GB" sz="2400" dirty="0" err="1"/>
              <a:t>blackboxes</a:t>
            </a:r>
            <a:r>
              <a:rPr lang="en-GB" sz="2400" dirty="0"/>
              <a:t> (to be relied on for high-stakes predictions as here, must be explainable (Integrated Gradients/SHAP)). </a:t>
            </a:r>
          </a:p>
          <a:p>
            <a:pPr marL="342900" indent="-342900">
              <a:spcBef>
                <a:spcPts val="0"/>
              </a:spcBef>
              <a:buFont typeface="Arial" panose="020B0604020202020204" pitchFamily="34" charset="0"/>
              <a:buChar char="•"/>
            </a:pPr>
            <a:r>
              <a:rPr lang="en-GB" sz="2400" i="1" u="sng" dirty="0"/>
              <a:t>Privacy and Data Sovereignty</a:t>
            </a:r>
            <a:r>
              <a:rPr lang="en-GB" sz="2400" i="1" dirty="0"/>
              <a:t>: </a:t>
            </a:r>
            <a:r>
              <a:rPr lang="en-GB" sz="2400" dirty="0" err="1"/>
              <a:t>BreizhCrops</a:t>
            </a:r>
            <a:r>
              <a:rPr lang="en-GB" sz="2400" dirty="0"/>
              <a:t> parcel data is anonymised and aggregated, but inclusion of specific parcel shapes means re-identification may be possible when combined with other data sources. The legal obligation to provide the data potentially undermines the validity of consent, and whether there is transparency regarding use of the data is unclear</a:t>
            </a:r>
          </a:p>
          <a:p>
            <a:pPr>
              <a:spcBef>
                <a:spcPts val="0"/>
              </a:spcBef>
            </a:pPr>
            <a:endParaRPr lang="en-GB" sz="2400" dirty="0"/>
          </a:p>
          <a:p>
            <a:pPr>
              <a:spcBef>
                <a:spcPts val="0"/>
              </a:spcBef>
            </a:pPr>
            <a:r>
              <a:rPr lang="en-GB" sz="2400" b="1" i="1" dirty="0">
                <a:solidFill>
                  <a:srgbClr val="FF0000"/>
                </a:solidFill>
              </a:rPr>
              <a:t>Please note: References, more detailed justification of methodology, and code for reproducing the results are available in the linked Github repository.</a:t>
            </a:r>
            <a:endParaRPr lang="en-GB" dirty="0"/>
          </a:p>
          <a:p>
            <a:endParaRPr lang="en-GB" dirty="0"/>
          </a:p>
          <a:p>
            <a:endParaRPr lang="en-GB" dirty="0"/>
          </a:p>
          <a:p>
            <a:endParaRPr lang="en-GB" dirty="0"/>
          </a:p>
          <a:p>
            <a:endParaRPr lang="en-GB" dirty="0"/>
          </a:p>
          <a:p>
            <a:endParaRPr lang="en-GB" dirty="0"/>
          </a:p>
        </p:txBody>
      </p:sp>
      <p:sp>
        <p:nvSpPr>
          <p:cNvPr id="33" name="Text Placeholder 32" descr="Contact details"/>
          <p:cNvSpPr>
            <a:spLocks noGrp="1"/>
          </p:cNvSpPr>
          <p:nvPr>
            <p:ph type="body" sz="quarter" idx="13"/>
          </p:nvPr>
        </p:nvSpPr>
        <p:spPr/>
        <p:txBody>
          <a:bodyPr/>
          <a:lstStyle/>
          <a:p>
            <a:r>
              <a:rPr lang="en-GB" err="1"/>
              <a:t>harry.fyjis-walker@ucl.ac.uk</a:t>
            </a:r>
            <a:endParaRPr lang="en-GB"/>
          </a:p>
        </p:txBody>
      </p:sp>
      <p:pic>
        <p:nvPicPr>
          <p:cNvPr id="293" name="Picture 292" descr="A table with numbers and text&#10;&#10;AI-generated content may be incorrect.">
            <a:extLst>
              <a:ext uri="{FF2B5EF4-FFF2-40B4-BE49-F238E27FC236}">
                <a16:creationId xmlns:a16="http://schemas.microsoft.com/office/drawing/2014/main" id="{227FCD6A-3AB9-7075-314D-3A69E1C1C69D}"/>
              </a:ext>
            </a:extLst>
          </p:cNvPr>
          <p:cNvPicPr>
            <a:picLocks noChangeAspect="1"/>
          </p:cNvPicPr>
          <p:nvPr/>
        </p:nvPicPr>
        <p:blipFill>
          <a:blip r:embed="rId3"/>
          <a:stretch>
            <a:fillRect/>
          </a:stretch>
        </p:blipFill>
        <p:spPr>
          <a:xfrm>
            <a:off x="2689057" y="8029862"/>
            <a:ext cx="9159131" cy="2854267"/>
          </a:xfrm>
          <a:prstGeom prst="rect">
            <a:avLst/>
          </a:prstGeom>
        </p:spPr>
      </p:pic>
      <p:sp>
        <p:nvSpPr>
          <p:cNvPr id="294" name="TextBox 293">
            <a:extLst>
              <a:ext uri="{FF2B5EF4-FFF2-40B4-BE49-F238E27FC236}">
                <a16:creationId xmlns:a16="http://schemas.microsoft.com/office/drawing/2014/main" id="{60727E9C-CC31-994B-1FDF-5F90C02698A9}"/>
              </a:ext>
            </a:extLst>
          </p:cNvPr>
          <p:cNvSpPr txBox="1"/>
          <p:nvPr/>
        </p:nvSpPr>
        <p:spPr>
          <a:xfrm>
            <a:off x="1649897" y="10912403"/>
            <a:ext cx="11648661" cy="369332"/>
          </a:xfrm>
          <a:prstGeom prst="rect">
            <a:avLst/>
          </a:prstGeom>
          <a:noFill/>
        </p:spPr>
        <p:txBody>
          <a:bodyPr wrap="square" rtlCol="0">
            <a:spAutoFit/>
          </a:bodyPr>
          <a:lstStyle/>
          <a:p>
            <a:r>
              <a:rPr lang="en-US"/>
              <a:t>Table 1. Replication of published results on the 3-band Amazon Rainforest dataset for U-Net and Attention U-Net.</a:t>
            </a:r>
          </a:p>
        </p:txBody>
      </p:sp>
      <p:sp>
        <p:nvSpPr>
          <p:cNvPr id="295" name="Rectangle 294">
            <a:extLst>
              <a:ext uri="{FF2B5EF4-FFF2-40B4-BE49-F238E27FC236}">
                <a16:creationId xmlns:a16="http://schemas.microsoft.com/office/drawing/2014/main" id="{F43DB1DE-13E5-349E-57D3-4C13BB2098BE}"/>
              </a:ext>
            </a:extLst>
          </p:cNvPr>
          <p:cNvSpPr/>
          <p:nvPr/>
        </p:nvSpPr>
        <p:spPr>
          <a:xfrm>
            <a:off x="1022588" y="13564167"/>
            <a:ext cx="13104574" cy="72613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6" name="TextBox 295">
            <a:extLst>
              <a:ext uri="{FF2B5EF4-FFF2-40B4-BE49-F238E27FC236}">
                <a16:creationId xmlns:a16="http://schemas.microsoft.com/office/drawing/2014/main" id="{693FF3C9-2E8E-FB1D-B327-A979DFF1FBCB}"/>
              </a:ext>
            </a:extLst>
          </p:cNvPr>
          <p:cNvSpPr txBox="1"/>
          <p:nvPr/>
        </p:nvSpPr>
        <p:spPr>
          <a:xfrm>
            <a:off x="326570" y="11491150"/>
            <a:ext cx="13552715" cy="5016758"/>
          </a:xfrm>
          <a:prstGeom prst="rect">
            <a:avLst/>
          </a:prstGeom>
          <a:noFill/>
        </p:spPr>
        <p:txBody>
          <a:bodyPr wrap="square" rtlCol="0">
            <a:spAutoFit/>
          </a:bodyPr>
          <a:lstStyle/>
          <a:p>
            <a:r>
              <a:rPr lang="en-GB" sz="3200" b="1" dirty="0"/>
              <a:t>Crop Classification: Motivations and SDG Alignment</a:t>
            </a:r>
            <a:r>
              <a:rPr lang="en-US" sz="3200" b="1" dirty="0"/>
              <a:t> </a:t>
            </a:r>
            <a:endParaRPr lang="en-US" sz="3200" dirty="0"/>
          </a:p>
          <a:p>
            <a:pPr marL="342900" indent="-342900" algn="just">
              <a:buFont typeface="Arial" panose="020B0604020202020204" pitchFamily="34" charset="0"/>
              <a:buChar char="•"/>
            </a:pPr>
            <a:r>
              <a:rPr lang="en-US" sz="2400" dirty="0"/>
              <a:t>Smallholder farms (&lt; 10 ha) provide 80% of food supply and employ 65% of workforce in sub-Saharan Africa (SSA); supporting smallholders’ economic stability and agricultural productivity is crucial for achieving SDG 1 &amp; 2 in this region. </a:t>
            </a:r>
          </a:p>
          <a:p>
            <a:pPr marL="342900" indent="-342900" algn="just">
              <a:buFont typeface="Arial" panose="020B0604020202020204" pitchFamily="34" charset="0"/>
              <a:buChar char="•"/>
            </a:pPr>
            <a:r>
              <a:rPr lang="en-US" sz="2400" dirty="0"/>
              <a:t>AI can contribute to improved productivity: </a:t>
            </a:r>
            <a:r>
              <a:rPr lang="en-US" sz="2400" dirty="0" err="1"/>
              <a:t>localised</a:t>
            </a:r>
            <a:r>
              <a:rPr lang="en-US" sz="2400" dirty="0"/>
              <a:t> information on crop husbandry best practices; disease/pest early detection; yield forecasting.</a:t>
            </a:r>
          </a:p>
          <a:p>
            <a:pPr marL="342900" indent="-342900" algn="just">
              <a:buFont typeface="Arial" panose="020B0604020202020204" pitchFamily="34" charset="0"/>
              <a:buChar char="•"/>
            </a:pPr>
            <a:r>
              <a:rPr lang="en-US" sz="2400" dirty="0"/>
              <a:t>Key challenge: sparse information on parcel size, location, and main crop types. Methods for large-scale field delineation and crop classification needed. </a:t>
            </a:r>
          </a:p>
          <a:p>
            <a:pPr marL="342900" indent="-342900" algn="just">
              <a:buFont typeface="Arial" panose="020B0604020202020204" pitchFamily="34" charset="0"/>
              <a:buChar char="•"/>
            </a:pPr>
            <a:r>
              <a:rPr lang="en-US" sz="2400" dirty="0"/>
              <a:t>Transfer learning from well-labelled European datasets offers promise, but performance on these datasets needs further improvement. Integration of time series data has been shown to improve classification accuracy by allowing discrimination based on phenological characteristics. </a:t>
            </a:r>
          </a:p>
          <a:p>
            <a:pPr marL="342900" indent="-342900" algn="just">
              <a:buFont typeface="Arial" panose="020B0604020202020204" pitchFamily="34" charset="0"/>
              <a:buChar char="•"/>
            </a:pPr>
            <a:r>
              <a:rPr lang="en-US" sz="2400" dirty="0"/>
              <a:t>Within this, Temporal Attention Gates have the potential to improve current time-series-based classification models by encouraging focus on key, discriminative phenological phases.</a:t>
            </a:r>
          </a:p>
        </p:txBody>
      </p:sp>
      <p:pic>
        <p:nvPicPr>
          <p:cNvPr id="312" name="Content Placeholder 311" descr="A diagram of a project&#10;&#10;AI-generated content may be incorrect.">
            <a:extLst>
              <a:ext uri="{FF2B5EF4-FFF2-40B4-BE49-F238E27FC236}">
                <a16:creationId xmlns:a16="http://schemas.microsoft.com/office/drawing/2014/main" id="{578962A9-9615-A77F-7DA5-B9715855767A}"/>
              </a:ext>
            </a:extLst>
          </p:cNvPr>
          <p:cNvPicPr>
            <a:picLocks noGrp="1" noChangeAspect="1"/>
          </p:cNvPicPr>
          <p:nvPr>
            <p:ph sz="quarter" idx="22"/>
          </p:nvPr>
        </p:nvPicPr>
        <p:blipFill>
          <a:blip r:embed="rId4"/>
          <a:srcRect t="5894" r="34424"/>
          <a:stretch>
            <a:fillRect/>
          </a:stretch>
        </p:blipFill>
        <p:spPr>
          <a:xfrm>
            <a:off x="1584582" y="16906778"/>
            <a:ext cx="11025894" cy="11211022"/>
          </a:xfrm>
        </p:spPr>
      </p:pic>
      <p:sp>
        <p:nvSpPr>
          <p:cNvPr id="313" name="TextBox 312">
            <a:extLst>
              <a:ext uri="{FF2B5EF4-FFF2-40B4-BE49-F238E27FC236}">
                <a16:creationId xmlns:a16="http://schemas.microsoft.com/office/drawing/2014/main" id="{16F47C6D-F906-9D0D-E3D6-835749824D6F}"/>
              </a:ext>
            </a:extLst>
          </p:cNvPr>
          <p:cNvSpPr txBox="1"/>
          <p:nvPr/>
        </p:nvSpPr>
        <p:spPr>
          <a:xfrm>
            <a:off x="1584582" y="16460174"/>
            <a:ext cx="11648661" cy="369332"/>
          </a:xfrm>
          <a:prstGeom prst="rect">
            <a:avLst/>
          </a:prstGeom>
          <a:noFill/>
        </p:spPr>
        <p:txBody>
          <a:bodyPr wrap="square" rtlCol="0">
            <a:spAutoFit/>
          </a:bodyPr>
          <a:lstStyle/>
          <a:p>
            <a:r>
              <a:rPr lang="en-US" dirty="0"/>
              <a:t>Figure 1. Flow chart illustrating the role of this project in the larger space of smallholder agriculture.</a:t>
            </a:r>
          </a:p>
        </p:txBody>
      </p:sp>
      <p:sp>
        <p:nvSpPr>
          <p:cNvPr id="315" name="Rectangle 314">
            <a:extLst>
              <a:ext uri="{FF2B5EF4-FFF2-40B4-BE49-F238E27FC236}">
                <a16:creationId xmlns:a16="http://schemas.microsoft.com/office/drawing/2014/main" id="{02C48DEF-BCDE-D997-1114-C70BB6C347A3}"/>
              </a:ext>
            </a:extLst>
          </p:cNvPr>
          <p:cNvSpPr/>
          <p:nvPr/>
        </p:nvSpPr>
        <p:spPr>
          <a:xfrm>
            <a:off x="14855930" y="18976761"/>
            <a:ext cx="13092118" cy="97155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22" name="Picture 321">
            <a:extLst>
              <a:ext uri="{FF2B5EF4-FFF2-40B4-BE49-F238E27FC236}">
                <a16:creationId xmlns:a16="http://schemas.microsoft.com/office/drawing/2014/main" id="{5569150B-1758-1CDC-CCE6-0BBFDE879457}"/>
              </a:ext>
            </a:extLst>
          </p:cNvPr>
          <p:cNvPicPr>
            <a:picLocks noChangeAspect="1"/>
          </p:cNvPicPr>
          <p:nvPr/>
        </p:nvPicPr>
        <p:blipFill>
          <a:blip r:embed="rId5"/>
          <a:stretch>
            <a:fillRect/>
          </a:stretch>
        </p:blipFill>
        <p:spPr>
          <a:xfrm>
            <a:off x="15298810" y="17101501"/>
            <a:ext cx="12189838" cy="5110799"/>
          </a:xfrm>
          <a:prstGeom prst="rect">
            <a:avLst/>
          </a:prstGeom>
        </p:spPr>
      </p:pic>
      <p:sp>
        <p:nvSpPr>
          <p:cNvPr id="323" name="TextBox 322">
            <a:extLst>
              <a:ext uri="{FF2B5EF4-FFF2-40B4-BE49-F238E27FC236}">
                <a16:creationId xmlns:a16="http://schemas.microsoft.com/office/drawing/2014/main" id="{601A6C8F-D12D-CC30-C99A-53CD1E47D9A1}"/>
              </a:ext>
            </a:extLst>
          </p:cNvPr>
          <p:cNvSpPr txBox="1"/>
          <p:nvPr/>
        </p:nvSpPr>
        <p:spPr>
          <a:xfrm>
            <a:off x="17875360" y="22035220"/>
            <a:ext cx="11648661" cy="369332"/>
          </a:xfrm>
          <a:prstGeom prst="rect">
            <a:avLst/>
          </a:prstGeom>
          <a:noFill/>
        </p:spPr>
        <p:txBody>
          <a:bodyPr wrap="square" rtlCol="0">
            <a:spAutoFit/>
          </a:bodyPr>
          <a:lstStyle/>
          <a:p>
            <a:r>
              <a:rPr lang="en-US"/>
              <a:t>Figure 2. A network architecture diagram for the adapted model.</a:t>
            </a:r>
          </a:p>
        </p:txBody>
      </p:sp>
      <p:pic>
        <p:nvPicPr>
          <p:cNvPr id="327" name="Picture 326">
            <a:extLst>
              <a:ext uri="{FF2B5EF4-FFF2-40B4-BE49-F238E27FC236}">
                <a16:creationId xmlns:a16="http://schemas.microsoft.com/office/drawing/2014/main" id="{24CB7DCE-44E9-7882-97D7-FEAE8348EF00}"/>
              </a:ext>
            </a:extLst>
          </p:cNvPr>
          <p:cNvPicPr>
            <a:picLocks noChangeAspect="1"/>
          </p:cNvPicPr>
          <p:nvPr/>
        </p:nvPicPr>
        <p:blipFill>
          <a:blip r:embed="rId6"/>
          <a:stretch>
            <a:fillRect/>
          </a:stretch>
        </p:blipFill>
        <p:spPr>
          <a:xfrm>
            <a:off x="14804564" y="7186916"/>
            <a:ext cx="13042862" cy="2056659"/>
          </a:xfrm>
          <a:prstGeom prst="rect">
            <a:avLst/>
          </a:prstGeom>
        </p:spPr>
      </p:pic>
      <p:sp>
        <p:nvSpPr>
          <p:cNvPr id="328" name="TextBox 327">
            <a:extLst>
              <a:ext uri="{FF2B5EF4-FFF2-40B4-BE49-F238E27FC236}">
                <a16:creationId xmlns:a16="http://schemas.microsoft.com/office/drawing/2014/main" id="{7B14FF43-5BBD-B21A-1E2A-38B072ECDA3B}"/>
              </a:ext>
            </a:extLst>
          </p:cNvPr>
          <p:cNvSpPr txBox="1"/>
          <p:nvPr/>
        </p:nvSpPr>
        <p:spPr>
          <a:xfrm>
            <a:off x="17715153" y="9243575"/>
            <a:ext cx="7370282" cy="369332"/>
          </a:xfrm>
          <a:prstGeom prst="rect">
            <a:avLst/>
          </a:prstGeom>
          <a:noFill/>
        </p:spPr>
        <p:txBody>
          <a:bodyPr wrap="square" rtlCol="0">
            <a:spAutoFit/>
          </a:bodyPr>
          <a:lstStyle/>
          <a:p>
            <a:r>
              <a:rPr lang="en-US"/>
              <a:t>Table 2. Distributions of crop types for raw and preprocessed datasets.</a:t>
            </a:r>
          </a:p>
        </p:txBody>
      </p:sp>
      <p:pic>
        <p:nvPicPr>
          <p:cNvPr id="333" name="Picture 332">
            <a:extLst>
              <a:ext uri="{FF2B5EF4-FFF2-40B4-BE49-F238E27FC236}">
                <a16:creationId xmlns:a16="http://schemas.microsoft.com/office/drawing/2014/main" id="{F52526DE-B597-213A-9A26-4461F4E1A2E3}"/>
              </a:ext>
            </a:extLst>
          </p:cNvPr>
          <p:cNvPicPr>
            <a:picLocks noChangeAspect="1"/>
          </p:cNvPicPr>
          <p:nvPr/>
        </p:nvPicPr>
        <p:blipFill>
          <a:blip r:embed="rId7"/>
          <a:stretch>
            <a:fillRect/>
          </a:stretch>
        </p:blipFill>
        <p:spPr>
          <a:xfrm>
            <a:off x="28812665" y="8401616"/>
            <a:ext cx="12442283" cy="841959"/>
          </a:xfrm>
          <a:prstGeom prst="rect">
            <a:avLst/>
          </a:prstGeom>
        </p:spPr>
      </p:pic>
      <p:sp>
        <p:nvSpPr>
          <p:cNvPr id="334" name="TextBox 333">
            <a:extLst>
              <a:ext uri="{FF2B5EF4-FFF2-40B4-BE49-F238E27FC236}">
                <a16:creationId xmlns:a16="http://schemas.microsoft.com/office/drawing/2014/main" id="{3BDDCB5C-8D06-48A7-8DCA-E73F7A10BF4B}"/>
              </a:ext>
            </a:extLst>
          </p:cNvPr>
          <p:cNvSpPr txBox="1"/>
          <p:nvPr/>
        </p:nvSpPr>
        <p:spPr>
          <a:xfrm>
            <a:off x="32585528" y="9182171"/>
            <a:ext cx="5256370" cy="369332"/>
          </a:xfrm>
          <a:prstGeom prst="rect">
            <a:avLst/>
          </a:prstGeom>
          <a:noFill/>
        </p:spPr>
        <p:txBody>
          <a:bodyPr wrap="square" rtlCol="0">
            <a:spAutoFit/>
          </a:bodyPr>
          <a:lstStyle/>
          <a:p>
            <a:r>
              <a:rPr lang="en-US"/>
              <a:t>Table 3. Performance of initial model on test set.</a:t>
            </a:r>
          </a:p>
        </p:txBody>
      </p:sp>
      <p:sp>
        <p:nvSpPr>
          <p:cNvPr id="335" name="Text Placeholder 29" descr="Authors">
            <a:extLst>
              <a:ext uri="{FF2B5EF4-FFF2-40B4-BE49-F238E27FC236}">
                <a16:creationId xmlns:a16="http://schemas.microsoft.com/office/drawing/2014/main" id="{F22F55F9-6DF4-DD5B-9144-90E4C2CC362D}"/>
              </a:ext>
            </a:extLst>
          </p:cNvPr>
          <p:cNvSpPr txBox="1">
            <a:spLocks/>
          </p:cNvSpPr>
          <p:nvPr/>
        </p:nvSpPr>
        <p:spPr>
          <a:xfrm>
            <a:off x="1100869" y="3617451"/>
            <a:ext cx="35504166" cy="535531"/>
          </a:xfrm>
          <a:prstGeom prst="rect">
            <a:avLst/>
          </a:prstGeom>
        </p:spPr>
        <p:txBody>
          <a:bodyPr wrap="square" lIns="0">
            <a:spAutoFit/>
          </a:bodyPr>
          <a:lstStyle>
            <a:lvl1pPr marL="0" marR="0" indent="0" algn="l" defTabSz="3209320" rtl="0" eaLnBrk="1" fontAlgn="auto" latinLnBrk="0" hangingPunct="1">
              <a:lnSpc>
                <a:spcPct val="90000"/>
              </a:lnSpc>
              <a:spcBef>
                <a:spcPts val="3510"/>
              </a:spcBef>
              <a:spcAft>
                <a:spcPts val="0"/>
              </a:spcAft>
              <a:buClrTx/>
              <a:buSzTx/>
              <a:buFont typeface="Arial" panose="020B0604020202020204" pitchFamily="34" charset="0"/>
              <a:buNone/>
              <a:tabLst/>
              <a:defRPr sz="4800" b="1" kern="1200" baseline="0">
                <a:solidFill>
                  <a:schemeClr val="bg1"/>
                </a:solidFill>
                <a:latin typeface="+mj-lt"/>
                <a:ea typeface="+mn-ea"/>
                <a:cs typeface="+mn-cs"/>
              </a:defRPr>
            </a:lvl1pPr>
            <a:lvl2pPr marL="2406990" indent="-802331" algn="l" defTabSz="3209320" rtl="0" eaLnBrk="1" latinLnBrk="0" hangingPunct="1">
              <a:lnSpc>
                <a:spcPct val="90000"/>
              </a:lnSpc>
              <a:spcBef>
                <a:spcPts val="1755"/>
              </a:spcBef>
              <a:buFont typeface="Arial" panose="020B0604020202020204" pitchFamily="34" charset="0"/>
              <a:buChar char="•"/>
              <a:defRPr sz="8423" kern="1200">
                <a:solidFill>
                  <a:schemeClr val="tx1"/>
                </a:solidFill>
                <a:latin typeface="+mn-lt"/>
                <a:ea typeface="+mn-ea"/>
                <a:cs typeface="+mn-cs"/>
              </a:defRPr>
            </a:lvl2pPr>
            <a:lvl3pPr marL="4011651" indent="-802331" algn="l" defTabSz="3209320" rtl="0" eaLnBrk="1" latinLnBrk="0" hangingPunct="1">
              <a:lnSpc>
                <a:spcPct val="90000"/>
              </a:lnSpc>
              <a:spcBef>
                <a:spcPts val="1755"/>
              </a:spcBef>
              <a:buFont typeface="Arial" panose="020B0604020202020204" pitchFamily="34" charset="0"/>
              <a:buChar char="•"/>
              <a:defRPr sz="7019" kern="1200">
                <a:solidFill>
                  <a:schemeClr val="tx1"/>
                </a:solidFill>
                <a:latin typeface="+mn-lt"/>
                <a:ea typeface="+mn-ea"/>
                <a:cs typeface="+mn-cs"/>
              </a:defRPr>
            </a:lvl3pPr>
            <a:lvl4pPr marL="5616311"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4pPr>
            <a:lvl5pPr marL="7220972"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5pPr>
            <a:lvl6pPr marL="8825631"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6pPr>
            <a:lvl7pPr marL="10430291"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7pPr>
            <a:lvl8pPr marL="12034951"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8pPr>
            <a:lvl9pPr marL="13639612" indent="-802331" algn="l" defTabSz="3209320" rtl="0" eaLnBrk="1" latinLnBrk="0" hangingPunct="1">
              <a:lnSpc>
                <a:spcPct val="90000"/>
              </a:lnSpc>
              <a:spcBef>
                <a:spcPts val="1755"/>
              </a:spcBef>
              <a:buFont typeface="Arial" panose="020B0604020202020204" pitchFamily="34" charset="0"/>
              <a:buChar char="•"/>
              <a:defRPr sz="6317" kern="1200">
                <a:solidFill>
                  <a:schemeClr val="tx1"/>
                </a:solidFill>
                <a:latin typeface="+mn-lt"/>
                <a:ea typeface="+mn-ea"/>
                <a:cs typeface="+mn-cs"/>
              </a:defRPr>
            </a:lvl9pPr>
          </a:lstStyle>
          <a:p>
            <a:r>
              <a:rPr lang="en-GB" sz="3200" b="0" err="1"/>
              <a:t>Github</a:t>
            </a:r>
            <a:r>
              <a:rPr lang="en-GB" sz="3200" b="0"/>
              <a:t>: https://</a:t>
            </a:r>
            <a:r>
              <a:rPr lang="en-GB" sz="3200" b="0" err="1"/>
              <a:t>github.com</a:t>
            </a:r>
            <a:r>
              <a:rPr lang="en-GB" sz="3200" b="0"/>
              <a:t>/</a:t>
            </a:r>
            <a:r>
              <a:rPr lang="en-GB" sz="3200" b="0" err="1"/>
              <a:t>harryfyjiswalker</a:t>
            </a:r>
            <a:r>
              <a:rPr lang="en-GB" sz="3200" b="0"/>
              <a:t>/COMP0173_CW2_Crop_Classification </a:t>
            </a:r>
          </a:p>
        </p:txBody>
      </p:sp>
      <p:pic>
        <p:nvPicPr>
          <p:cNvPr id="341" name="Picture 340">
            <a:extLst>
              <a:ext uri="{FF2B5EF4-FFF2-40B4-BE49-F238E27FC236}">
                <a16:creationId xmlns:a16="http://schemas.microsoft.com/office/drawing/2014/main" id="{311044AE-BC44-10B1-F5A6-69AEDE8084D7}"/>
              </a:ext>
            </a:extLst>
          </p:cNvPr>
          <p:cNvPicPr>
            <a:picLocks noChangeAspect="1"/>
          </p:cNvPicPr>
          <p:nvPr/>
        </p:nvPicPr>
        <p:blipFill>
          <a:blip r:embed="rId8"/>
          <a:stretch>
            <a:fillRect/>
          </a:stretch>
        </p:blipFill>
        <p:spPr>
          <a:xfrm>
            <a:off x="30010381" y="15134665"/>
            <a:ext cx="10046849" cy="3720118"/>
          </a:xfrm>
          <a:prstGeom prst="rect">
            <a:avLst/>
          </a:prstGeom>
        </p:spPr>
      </p:pic>
      <p:sp>
        <p:nvSpPr>
          <p:cNvPr id="342" name="TextBox 341">
            <a:extLst>
              <a:ext uri="{FF2B5EF4-FFF2-40B4-BE49-F238E27FC236}">
                <a16:creationId xmlns:a16="http://schemas.microsoft.com/office/drawing/2014/main" id="{F71A7EEA-4A67-A18B-E4F4-87CF97FE9413}"/>
              </a:ext>
            </a:extLst>
          </p:cNvPr>
          <p:cNvSpPr txBox="1"/>
          <p:nvPr/>
        </p:nvSpPr>
        <p:spPr>
          <a:xfrm>
            <a:off x="28835824" y="18816879"/>
            <a:ext cx="13570573" cy="369332"/>
          </a:xfrm>
          <a:prstGeom prst="rect">
            <a:avLst/>
          </a:prstGeom>
          <a:noFill/>
        </p:spPr>
        <p:txBody>
          <a:bodyPr wrap="square" rtlCol="0">
            <a:spAutoFit/>
          </a:bodyPr>
          <a:lstStyle/>
          <a:p>
            <a:r>
              <a:rPr lang="en-US" dirty="0"/>
              <a:t>Table 3. Comparison of per-class metrics for Attention U-Net (Test Macro F1 = 0.3456) and U-Net (Test Macro F1 = 0.4361). </a:t>
            </a:r>
          </a:p>
        </p:txBody>
      </p:sp>
    </p:spTree>
    <p:extLst>
      <p:ext uri="{BB962C8B-B14F-4D97-AF65-F5344CB8AC3E}">
        <p14:creationId xmlns:p14="http://schemas.microsoft.com/office/powerpoint/2010/main" val="3552670003"/>
      </p:ext>
    </p:extLst>
  </p:cSld>
  <p:clrMapOvr>
    <a:masterClrMapping/>
  </p:clrMapOvr>
</p:sld>
</file>

<file path=ppt/theme/theme1.xml><?xml version="1.0" encoding="utf-8"?>
<a:theme xmlns:a="http://schemas.openxmlformats.org/drawingml/2006/main" name="UCL_Black_A0_Landscape_Poster_Theme">
  <a:themeElements>
    <a:clrScheme name="UCL Black Theme">
      <a:dk1>
        <a:sysClr val="windowText" lastClr="000000"/>
      </a:dk1>
      <a:lt1>
        <a:srgbClr val="FFFFFF"/>
      </a:lt1>
      <a:dk2>
        <a:srgbClr val="000000"/>
      </a:dk2>
      <a:lt2>
        <a:srgbClr val="E6E6E6"/>
      </a:lt2>
      <a:accent1>
        <a:srgbClr val="F6BE00"/>
      </a:accent1>
      <a:accent2>
        <a:srgbClr val="B5BD00"/>
      </a:accent2>
      <a:accent3>
        <a:srgbClr val="A4DBE8"/>
      </a:accent3>
      <a:accent4>
        <a:srgbClr val="8C8279"/>
      </a:accent4>
      <a:accent5>
        <a:srgbClr val="EA7600"/>
      </a:accent5>
      <a:accent6>
        <a:srgbClr val="E03C31"/>
      </a:accent6>
      <a:hlink>
        <a:srgbClr val="0563C1"/>
      </a:hlink>
      <a:folHlink>
        <a:srgbClr val="954F72"/>
      </a:folHlink>
    </a:clrScheme>
    <a:fontScheme name="Arial">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CL_A0_Landscape_Poster_Master.potx" id="{E6ADF204-7703-4FAF-A4DB-2F2B8C53F31A}" vid="{08D27FD6-0F78-412E-B5C8-B2578D9762C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94ADD47B68F244089BBDDC01A883908" ma:contentTypeVersion="13" ma:contentTypeDescription="Create a new document." ma:contentTypeScope="" ma:versionID="1a95ec089373963790b30efd154ab720">
  <xsd:schema xmlns:xsd="http://www.w3.org/2001/XMLSchema" xmlns:xs="http://www.w3.org/2001/XMLSchema" xmlns:p="http://schemas.microsoft.com/office/2006/metadata/properties" xmlns:ns3="d5fb6ed1-db9c-48a3-a5c6-9c2d850d1a1b" xmlns:ns4="31319a9f-c50a-4d3b-8fa9-492cace4e4c3" targetNamespace="http://schemas.microsoft.com/office/2006/metadata/properties" ma:root="true" ma:fieldsID="638ba751aff1c145b5af88aaaab0b652" ns3:_="" ns4:_="">
    <xsd:import namespace="d5fb6ed1-db9c-48a3-a5c6-9c2d850d1a1b"/>
    <xsd:import namespace="31319a9f-c50a-4d3b-8fa9-492cace4e4c3"/>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OCR" minOccurs="0"/>
                <xsd:element ref="ns4:MediaServiceLocation" minOccurs="0"/>
                <xsd:element ref="ns4:MediaServiceGenerationTime" minOccurs="0"/>
                <xsd:element ref="ns4:MediaServiceEventHashCode" minOccurs="0"/>
                <xsd:element ref="ns4:MediaServiceAutoKeyPoints" minOccurs="0"/>
                <xsd:element ref="ns4: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5fb6ed1-db9c-48a3-a5c6-9c2d850d1a1b"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1319a9f-c50a-4d3b-8fa9-492cace4e4c3"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MediaServiceAuto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Location" ma:index="16" nillable="true" ma:displayName="Location" ma:internalName="MediaServiceLocatio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E35FEB0-B839-4E5E-AADA-024AA63178E7}">
  <ds:schemaRefs>
    <ds:schemaRef ds:uri="http://www.w3.org/XML/1998/namespace"/>
    <ds:schemaRef ds:uri="31319a9f-c50a-4d3b-8fa9-492cace4e4c3"/>
    <ds:schemaRef ds:uri="http://schemas.microsoft.com/office/2006/documentManagement/types"/>
    <ds:schemaRef ds:uri="http://purl.org/dc/terms/"/>
    <ds:schemaRef ds:uri="http://purl.org/dc/elements/1.1/"/>
    <ds:schemaRef ds:uri="http://schemas.microsoft.com/office/infopath/2007/PartnerControls"/>
    <ds:schemaRef ds:uri="d5fb6ed1-db9c-48a3-a5c6-9c2d850d1a1b"/>
    <ds:schemaRef ds:uri="http://schemas.openxmlformats.org/package/2006/metadata/core-properties"/>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E74005A4-B56F-4752-B379-808441D9ECD6}">
  <ds:schemaRefs>
    <ds:schemaRef ds:uri="http://schemas.microsoft.com/sharepoint/v3/contenttype/forms"/>
  </ds:schemaRefs>
</ds:datastoreItem>
</file>

<file path=customXml/itemProps3.xml><?xml version="1.0" encoding="utf-8"?>
<ds:datastoreItem xmlns:ds="http://schemas.openxmlformats.org/officeDocument/2006/customXml" ds:itemID="{3093D280-CC88-44B2-A27A-0AE5D325F8B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5fb6ed1-db9c-48a3-a5c6-9c2d850d1a1b"/>
    <ds:schemaRef ds:uri="31319a9f-c50a-4d3b-8fa9-492cace4e4c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UCL_A0_Landscape_Poster_Master</Template>
  <TotalTime>1955</TotalTime>
  <Words>1683</Words>
  <Application>Microsoft Macintosh PowerPoint</Application>
  <PresentationFormat>Custom</PresentationFormat>
  <Paragraphs>97</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Aptos</vt:lpstr>
      <vt:lpstr>Arial</vt:lpstr>
      <vt:lpstr>UCL_Black_A0_Landscape_Poster_Theme</vt:lpstr>
      <vt:lpstr>Temporal Attention Gates: Effective Tools in Time Series Crop Classification?</vt:lpstr>
    </vt:vector>
  </TitlesOfParts>
  <Company>University College London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A0 Landscape Poster Template</dc:subject>
  <dc:creator>Petterson, Helen</dc:creator>
  <cp:keywords>A0 Landscape Poster</cp:keywords>
  <cp:lastModifiedBy>Fyjis-Walker, Harry</cp:lastModifiedBy>
  <cp:revision>53</cp:revision>
  <dcterms:created xsi:type="dcterms:W3CDTF">2020-10-12T16:47:39Z</dcterms:created>
  <dcterms:modified xsi:type="dcterms:W3CDTF">2025-12-11T15:23:26Z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0x010100994ADD47B68F244089BBDDC01A883908</vt:lpwstr>
  </property>
</Properties>
</file>